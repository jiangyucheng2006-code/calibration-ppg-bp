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ef24a999e843b2" /><Relationship Type="http://schemas.openxmlformats.org/officeDocument/2006/relationships/extended-properties" Target="/docProps/app.xml" Id="Rdbfe2f0ab4e448f6" /><Relationship Type="http://schemas.openxmlformats.org/officeDocument/2006/relationships/officeDocument" Target="/ppt/presentation.xml" Id="R617bb083eef746c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cf7ad833bbc4aa9"/>
  </p:sldMasterIdLst>
  <p:notesMasterIdLst>
    <p:notesMasterId xmlns:r="http://schemas.openxmlformats.org/officeDocument/2006/relationships" r:id="R5adcc57215f24aad"/>
  </p:notesMasterIdLst>
  <p:sldIdLst>
    <p:sldId xmlns:r="http://schemas.openxmlformats.org/officeDocument/2006/relationships" id="256" r:id="R7c7112b5e08043b8"/>
    <p:sldId xmlns:r="http://schemas.openxmlformats.org/officeDocument/2006/relationships" id="257" r:id="R47c41a413d454dd9"/>
    <p:sldId xmlns:r="http://schemas.openxmlformats.org/officeDocument/2006/relationships" id="258" r:id="R294f8f2c897d4705"/>
    <p:sldId xmlns:r="http://schemas.openxmlformats.org/officeDocument/2006/relationships" id="259" r:id="R61a3cf21f5a54f29"/>
    <p:sldId xmlns:r="http://schemas.openxmlformats.org/officeDocument/2006/relationships" id="260" r:id="R7be5d3a4bf9a4c28"/>
    <p:sldId xmlns:r="http://schemas.openxmlformats.org/officeDocument/2006/relationships" id="261" r:id="R71dbcad56faa4995"/>
    <p:sldId xmlns:r="http://schemas.openxmlformats.org/officeDocument/2006/relationships" id="262" r:id="R2fcd2acdc60d412a"/>
    <p:sldId xmlns:r="http://schemas.openxmlformats.org/officeDocument/2006/relationships" id="263" r:id="R611fd259e9824009"/>
    <p:sldId xmlns:r="http://schemas.openxmlformats.org/officeDocument/2006/relationships" id="264" r:id="Rdf9a2cf064584815"/>
  </p:sldIdLst>
  <p:sldSz cx="18288000" cy="10287000"/>
  <p:notesSz cx="6858000" cy="9144000"/>
  <p:embeddedFontLst>
    <p:embeddedFont>
      <p:font typeface="Belleza"/>
      <p:regular xmlns:r="http://schemas.openxmlformats.org/officeDocument/2006/relationships" r:id="Rc68286fb419b426c"/>
    </p:embeddedFont>
    <p:embeddedFont>
      <p:font typeface="Times New Roman"/>
      <p:regular xmlns:r="http://schemas.openxmlformats.org/officeDocument/2006/relationships" r:id="Rbdb5557c6bf743eb"/>
    </p:embeddedFont>
    <p:embeddedFont>
      <p:font typeface="Times New Roman Bold"/>
      <p:regular xmlns:r="http://schemas.openxmlformats.org/officeDocument/2006/relationships" r:id="Rffe67930c9de4cc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69cc57a82742ae" /><Relationship Type="http://schemas.openxmlformats.org/officeDocument/2006/relationships/slideMaster" Target="/ppt/slideMasters/slideMaster1.xml" Id="R3cf7ad833bbc4aa9" /><Relationship Type="http://schemas.openxmlformats.org/officeDocument/2006/relationships/notesMaster" Target="/ppt/notesMasters/notesMaster1.xml" Id="R5adcc57215f24aad" /><Relationship Type="http://schemas.openxmlformats.org/officeDocument/2006/relationships/presProps" Target="/ppt/presProps.xml" Id="Re93718481eef4977" /><Relationship Type="http://schemas.openxmlformats.org/officeDocument/2006/relationships/viewProps" Target="/ppt/viewProps.xml" Id="Re9afe30cf04c4b4b" /><Relationship Type="http://schemas.openxmlformats.org/officeDocument/2006/relationships/tableStyles" Target="/ppt/tableStyles.xml" Id="Rfcbd0c72f66d4520" /><Relationship Type="http://schemas.openxmlformats.org/officeDocument/2006/relationships/font" Target="/ppt/fonts/font.dat" Id="Rc68286fb419b426c" /><Relationship Type="http://schemas.openxmlformats.org/officeDocument/2006/relationships/font" Target="/ppt/fonts/font2.dat" Id="Rbdb5557c6bf743eb" /><Relationship Type="http://schemas.openxmlformats.org/officeDocument/2006/relationships/font" Target="/ppt/fonts/font3.dat" Id="Rffe67930c9de4cc1" /><Relationship Type="http://schemas.openxmlformats.org/officeDocument/2006/relationships/slide" Target="/ppt/slides/slide1.xml" Id="R7c7112b5e08043b8" /><Relationship Type="http://schemas.openxmlformats.org/officeDocument/2006/relationships/slide" Target="/ppt/slides/slide2.xml" Id="R47c41a413d454dd9" /><Relationship Type="http://schemas.openxmlformats.org/officeDocument/2006/relationships/slide" Target="/ppt/slides/slide3.xml" Id="R294f8f2c897d4705" /><Relationship Type="http://schemas.openxmlformats.org/officeDocument/2006/relationships/slide" Target="/ppt/slides/slide4.xml" Id="R61a3cf21f5a54f29" /><Relationship Type="http://schemas.openxmlformats.org/officeDocument/2006/relationships/slide" Target="/ppt/slides/slide5.xml" Id="R7be5d3a4bf9a4c28" /><Relationship Type="http://schemas.openxmlformats.org/officeDocument/2006/relationships/slide" Target="/ppt/slides/slide6.xml" Id="R71dbcad56faa4995" /><Relationship Type="http://schemas.openxmlformats.org/officeDocument/2006/relationships/slide" Target="/ppt/slides/slide7.xml" Id="R2fcd2acdc60d412a" /><Relationship Type="http://schemas.openxmlformats.org/officeDocument/2006/relationships/slide" Target="/ppt/slides/slide8.xml" Id="R611fd259e9824009" /><Relationship Type="http://schemas.openxmlformats.org/officeDocument/2006/relationships/slide" Target="/ppt/slides/slide9.xml" Id="Rdf9a2cf0645848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f668d2942b40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735efbb8134cd1" /><Relationship Type="http://schemas.openxmlformats.org/officeDocument/2006/relationships/notesMaster" Target="/ppt/notesMasters/notesMaster1.xml" Id="Re2c621e32b6749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078d61e3f74b9e" /><Relationship Type="http://schemas.openxmlformats.org/officeDocument/2006/relationships/notesMaster" Target="/ppt/notesMasters/notesMaster1.xml" Id="Ra64d24ae520a46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0b02feb1134a26" /><Relationship Type="http://schemas.openxmlformats.org/officeDocument/2006/relationships/notesMaster" Target="/ppt/notesMasters/notesMaster1.xml" Id="R37d697319be245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61d0b6e2394717" /><Relationship Type="http://schemas.openxmlformats.org/officeDocument/2006/relationships/notesMaster" Target="/ppt/notesMasters/notesMaster1.xml" Id="Rced0fccbc5f742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6e062df00040d8" /><Relationship Type="http://schemas.openxmlformats.org/officeDocument/2006/relationships/notesMaster" Target="/ppt/notesMasters/notesMaster1.xml" Id="Rd4d5e40199be44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f81e1d50484276" /><Relationship Type="http://schemas.openxmlformats.org/officeDocument/2006/relationships/notesMaster" Target="/ppt/notesMasters/notesMaster1.xml" Id="R821a37ccbcb347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b2a4ac8f0f4127" /><Relationship Type="http://schemas.openxmlformats.org/officeDocument/2006/relationships/notesMaster" Target="/ppt/notesMasters/notesMaster1.xml" Id="R3137bf4cfbb447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e16b04022143f1" /><Relationship Type="http://schemas.openxmlformats.org/officeDocument/2006/relationships/notesMaster" Target="/ppt/notesMasters/notesMaster1.xml" Id="R9b9248deb10e46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054ac69b1084a29" /><Relationship Type="http://schemas.openxmlformats.org/officeDocument/2006/relationships/notesMaster" Target="/ppt/notesMasters/notesMaster1.xml" Id="Rc4f24ed5f85847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progress report; no external claims on this slide.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BP\docs\STATUS.md</a:t>
            </a:r>
            <a:endParaRPr/>
          </a:p>
          <a:p xmlns:a="http://schemas.openxmlformats.org/drawingml/2006/main">
            <a:r>
              <a:t>- C:\Research\Calibration PPG BP\docs\METHODS.md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The locked meta-test is not accessed during model selection.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BP\docs\METHODS.md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BP\docs\RESULTS_PHASE5.md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BP\docs\RESULTS_PHASE5_REPEAT5.md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BP\docs\RESULTS_PHASE5_REPEAT5.md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Prior VitalDB calibration-free XResNet-50 experiment summary</a:t>
            </a:r>
            <a:endParaRPr/>
          </a:p>
          <a:p xmlns:a="http://schemas.openxmlformats.org/drawingml/2006/main">
            <a:r>
              <a:t>- C:\Research\Calibration PPG BP\docs\RESULTS_PHASE5_REPEAT5.md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Do not interpret the numeric difference as a controlled head-to-head gain.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BP\docs\RESULTS_PHASE5.md</a:t>
            </a:r>
            <a:endParaRPr/>
          </a:p>
          <a:p xmlns:a="http://schemas.openxmlformats.org/drawingml/2006/main">
            <a:r>
              <a:t>- C:\Research\Calibration PPG BP\docs\STATUS.md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Dropping samples by true query error is an oracle diagnostic, not deployable screening.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C:\Research\Calibration PPG BP\docs\STATUS.md</a:t>
            </a:r>
            <a:endParaRPr/>
          </a:p>
          <a:p xmlns:a="http://schemas.openxmlformats.org/drawingml/2006/main">
            <a:r>
              <a:t>- C:\Research\Calibration PPG BP\docs\METHODS.md</a:t>
            </a:r>
            <a:endParaRPr/>
          </a:p>
          <a:p xmlns:a="http://schemas.openxmlformats.org/drawingml/2006/main">
            <a:r>
              <a:t>[/Sources]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Multi-seed and multi-fold validation are deferred until a candidate shows a meaningful single-seed improvement.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34689be5ac44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db616fbb9a404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50f82f7dfa425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60156d313a4c1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cc40ac81e947f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27ea8fb7f3485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bcbf9d5dfd4d9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bb3b0c0c86461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718ff64f16450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caa94a8a114a4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b9ee37c85745b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788374-A82D-4519-A987-FD61D80D3B8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B259AA7-A0F7-45F7-8A15-67CA9217856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8FE1CFD-20ED-42F1-8A76-0A9B1850CD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64685A-1971-4F67-809A-25373C3BEF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AC354D-2F0A-4EE0-8D51-69C94E1591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184E08-076F-4F07-B91D-8698A9445E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7620915-9A24-4451-84DC-8FB633F0BB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5AE584-7AA4-45BF-BFA8-9DBFBB9FCE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A2EE2FE-BCB7-4808-ADB2-01450F2F9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35FE82-EB72-4C13-84FF-FFE289BF60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A29ABA-2BC9-4693-B918-71AC63706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ECAE3D2-4FB4-4097-A7A9-BB2D05849C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6A2D6D-FABA-4619-B07F-271555CB12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7EE686-FA94-49A3-BF1E-02C0B76980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1792660-1674-4FBE-9A39-2632125B7A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C7D5AF-6B9B-447B-9BC6-CE7AB04F4F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6007A2D-72A7-48A3-B176-CC1C9D967F8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6F490CC-8868-4060-AD54-D67F64945C5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0945FF-1B48-4BB9-813B-B634A5498D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1406535-E7E5-4CE0-9A92-088A29CA52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9322F36-3ABF-477F-9CA5-6B644CF0E7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3F7903-53A5-4ADE-B5F3-3ED515FE4F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27E4B01-E66E-4D9B-B30E-B3A18373E4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D05883E-6FBC-4527-A4AF-4176111B494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A47CB0-D18F-4AE3-9C9F-CC0BFB93FA1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16B6848-0F1D-4640-8EFF-FD299E38E5A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9B6799E-8FD3-4D96-8D20-13D3B65185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8EA73AE-A52C-4785-9739-094D2AF74F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1B75C33-1062-4198-958D-6A82C78EFD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2FFB17-DDE9-4120-B75D-A7A01748A9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FEA7C86-7109-47B5-94E2-143C42EA93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B2120F0-ACEE-4073-B5C5-944454EB14B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EA26C21-121F-4E57-9737-69CE3B5E33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304EEB7-8F7C-4464-84B8-9AFE9F248A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6DE5D14-8CFB-4119-AF9A-BCA0FC4DDA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9DEB7DC-4DD9-43D1-84E2-02EE6FAD27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51BB38-883A-4C23-80BA-342A39E45B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59859BB-454B-4846-994B-45FE7322DFF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217A473-3987-4D15-A601-3A0F72D042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E1957A-E402-41F9-BB36-43F45E9452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F2D7783-BCB5-4F6D-B52A-F99B79BD91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7420F70-8DB8-43AA-96ED-C985B9B1E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3A48CF8-8209-4727-B1C4-D0AD90F2C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C836B5F-B63D-4EBF-AB34-95B9C0E3ECE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853615C-7911-4801-85CA-4FFB1E80E4C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778EC95-5CB3-451D-AD23-D814E994A8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53EDB2A-EFD5-477C-BB05-647FB31897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4E8366C-5063-4A8D-8BD7-D32A259997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305259-C476-4050-92D1-943BABFE41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BBAC3B0-F6B1-4BB2-81D5-25A3FE436D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FA02B3-41CF-4080-9EF1-13F3FDEF3E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AA2F309-EDB7-4557-8AB2-04F6BD5AF5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8D54770-B84D-419F-B6E7-5C1915902F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046719D-DD8C-4EC0-98E5-2B9F212F2B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D0A846-643A-4B52-B35F-1A4FF010FA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C32A34-A3BD-4A47-B38D-E033A06800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971023A-AF7A-4EF4-988E-4915486919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260F94E-DE8B-4B57-80C4-9D99D4B56F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115f1a99354987" /><Relationship Type="http://schemas.openxmlformats.org/officeDocument/2006/relationships/slideLayout" Target="/ppt/slideLayouts/slideLayout1.xml" Id="R9481856557304c85" /><Relationship Type="http://schemas.openxmlformats.org/officeDocument/2006/relationships/slideLayout" Target="/ppt/slideLayouts/slideLayout2.xml" Id="R984bf19690b7401c" /><Relationship Type="http://schemas.openxmlformats.org/officeDocument/2006/relationships/slideLayout" Target="/ppt/slideLayouts/slideLayout3.xml" Id="Rae8849b14cbc49f3" /><Relationship Type="http://schemas.openxmlformats.org/officeDocument/2006/relationships/slideLayout" Target="/ppt/slideLayouts/slideLayout4.xml" Id="Rb71327c3607646c6" /><Relationship Type="http://schemas.openxmlformats.org/officeDocument/2006/relationships/slideLayout" Target="/ppt/slideLayouts/slideLayout5.xml" Id="R23acba29533a461d" /><Relationship Type="http://schemas.openxmlformats.org/officeDocument/2006/relationships/slideLayout" Target="/ppt/slideLayouts/slideLayout6.xml" Id="R687e7e74271142c7" /><Relationship Type="http://schemas.openxmlformats.org/officeDocument/2006/relationships/slideLayout" Target="/ppt/slideLayouts/slideLayout7.xml" Id="R27e8950162294c93" /><Relationship Type="http://schemas.openxmlformats.org/officeDocument/2006/relationships/slideLayout" Target="/ppt/slideLayouts/slideLayout8.xml" Id="R234582904d2942e3" /><Relationship Type="http://schemas.openxmlformats.org/officeDocument/2006/relationships/slideLayout" Target="/ppt/slideLayouts/slideLayout9.xml" Id="R73ef479ea51e4ad3" /><Relationship Type="http://schemas.openxmlformats.org/officeDocument/2006/relationships/slideLayout" Target="/ppt/slideLayouts/slideLayout10.xml" Id="R6c0d072f35ee408d" /><Relationship Type="http://schemas.openxmlformats.org/officeDocument/2006/relationships/slideLayout" Target="/ppt/slideLayouts/slideLayout11.xml" Id="R66b708d064a6429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6594B10-A7A3-4971-ADB4-615E90F790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179E10D-4D17-4241-B0A6-E3350BAFC5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8FBC9A4-701F-4973-8BA2-44E245192C1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2D9F04-9EEA-4EB2-B2F8-ABA50FDF1C3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FB3054D-2C06-4027-AA33-5FB2168B8F8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81856557304c85"/>
    <p:sldLayoutId xmlns:r="http://schemas.openxmlformats.org/officeDocument/2006/relationships" id="2147483650" r:id="R984bf19690b7401c"/>
    <p:sldLayoutId xmlns:r="http://schemas.openxmlformats.org/officeDocument/2006/relationships" id="2147483651" r:id="Rae8849b14cbc49f3"/>
    <p:sldLayoutId xmlns:r="http://schemas.openxmlformats.org/officeDocument/2006/relationships" id="2147483652" r:id="Rb71327c3607646c6"/>
    <p:sldLayoutId xmlns:r="http://schemas.openxmlformats.org/officeDocument/2006/relationships" id="2147483653" r:id="R23acba29533a461d"/>
    <p:sldLayoutId xmlns:r="http://schemas.openxmlformats.org/officeDocument/2006/relationships" id="2147483654" r:id="R687e7e74271142c7"/>
    <p:sldLayoutId xmlns:r="http://schemas.openxmlformats.org/officeDocument/2006/relationships" id="2147483655" r:id="R27e8950162294c93"/>
    <p:sldLayoutId xmlns:r="http://schemas.openxmlformats.org/officeDocument/2006/relationships" id="2147483656" r:id="R234582904d2942e3"/>
    <p:sldLayoutId xmlns:r="http://schemas.openxmlformats.org/officeDocument/2006/relationships" id="2147483657" r:id="R73ef479ea51e4ad3"/>
    <p:sldLayoutId xmlns:r="http://schemas.openxmlformats.org/officeDocument/2006/relationships" id="2147483658" r:id="R6c0d072f35ee408d"/>
    <p:sldLayoutId xmlns:r="http://schemas.openxmlformats.org/officeDocument/2006/relationships" id="2147483659" r:id="R66b708d064a64290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8fbf26c413417c" /><Relationship Type="http://schemas.openxmlformats.org/officeDocument/2006/relationships/image" Target="/ppt/media/image.png" Id="R1cfa44131a6a4951" /><Relationship Type="http://schemas.openxmlformats.org/officeDocument/2006/relationships/notesSlide" Target="/ppt/notesSlides/notesSlide1.xml" Id="R816d56159ea847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0a774989804c90" /><Relationship Type="http://schemas.openxmlformats.org/officeDocument/2006/relationships/image" Target="/ppt/media/image2.png" Id="R9c2924b781a74c88" /><Relationship Type="http://schemas.openxmlformats.org/officeDocument/2006/relationships/notesSlide" Target="/ppt/notesSlides/notesSlide2.xml" Id="R2848701af07948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196b12e1884661" /><Relationship Type="http://schemas.openxmlformats.org/officeDocument/2006/relationships/image" Target="/ppt/media/image2.png" Id="Reec9a76746d14bec" /><Relationship Type="http://schemas.openxmlformats.org/officeDocument/2006/relationships/notesSlide" Target="/ppt/notesSlides/notesSlide3.xml" Id="R61ec867376f84a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ceccb43aab4435" /><Relationship Type="http://schemas.openxmlformats.org/officeDocument/2006/relationships/image" Target="/ppt/media/image2.png" Id="R6cd3f54d1ec14838" /><Relationship Type="http://schemas.openxmlformats.org/officeDocument/2006/relationships/notesSlide" Target="/ppt/notesSlides/notesSlide4.xml" Id="Rfc0d4fe15bb748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1b886e02794b2f" /><Relationship Type="http://schemas.openxmlformats.org/officeDocument/2006/relationships/image" Target="/ppt/media/image2.png" Id="R0c4c515f4b3f4c66" /><Relationship Type="http://schemas.openxmlformats.org/officeDocument/2006/relationships/notesSlide" Target="/ppt/notesSlides/notesSlide5.xml" Id="R1f02ce1711c046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56bd4d0823428e" /><Relationship Type="http://schemas.openxmlformats.org/officeDocument/2006/relationships/image" Target="/ppt/media/image2.png" Id="Rb4b94d0c757c4831" /><Relationship Type="http://schemas.openxmlformats.org/officeDocument/2006/relationships/notesSlide" Target="/ppt/notesSlides/notesSlide6.xml" Id="R7015d11611da425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31bfd2019948e9" /><Relationship Type="http://schemas.openxmlformats.org/officeDocument/2006/relationships/image" Target="/ppt/media/image2.png" Id="R78935433c0d34399" /><Relationship Type="http://schemas.openxmlformats.org/officeDocument/2006/relationships/notesSlide" Target="/ppt/notesSlides/notesSlide7.xml" Id="R0c4d51a4665442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b1c621f71c46c3" /><Relationship Type="http://schemas.openxmlformats.org/officeDocument/2006/relationships/image" Target="/ppt/media/image2.png" Id="Rbf797f77388b400e" /><Relationship Type="http://schemas.openxmlformats.org/officeDocument/2006/relationships/notesSlide" Target="/ppt/notesSlides/notesSlide8.xml" Id="Refa17193ecd84f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401b693554434d" /><Relationship Type="http://schemas.openxmlformats.org/officeDocument/2006/relationships/image" Target="/ppt/media/image2.png" Id="R91c07d35bdbd44b3" /><Relationship Type="http://schemas.openxmlformats.org/officeDocument/2006/relationships/notesSlide" Target="/ppt/notesSlides/notesSlide9.xml" Id="Raf3daa3000d0466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F781C444-8E89-48B7-89DD-008C081E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1840391"/>
            <a:ext cx="18288000" cy="6606219"/>
          </a:xfrm>
          <a:custGeom xmlns:a="http://schemas.openxmlformats.org/drawingml/2006/main">
            <a:rect l="l" t="t" r="r" b="b"/>
            <a:pathLst>
              <a:path w="24384000" h="8808292">
                <a:moveTo>
                  <a:pt x="0" y="0"/>
                </a:moveTo>
                <a:lnTo>
                  <a:pt x="24384000" y="0"/>
                </a:lnTo>
                <a:lnTo>
                  <a:pt x="24384000" y="8808292"/>
                </a:lnTo>
                <a:lnTo>
                  <a:pt x="0" y="8808292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94AEE951-C2A9-46FC-B182-3B592B19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2444" y="574967"/>
            <a:ext cx="4114800" cy="788384"/>
          </a:xfrm>
          <a:custGeom xmlns:a="http://schemas.openxmlformats.org/drawingml/2006/main">
            <a:rect l="l" t="t" r="r" b="b"/>
            <a:pathLst>
              <a:path w="5486400" h="1051179">
                <a:moveTo>
                  <a:pt x="0" y="0"/>
                </a:moveTo>
                <a:lnTo>
                  <a:pt x="5486400" y="0"/>
                </a:lnTo>
                <a:lnTo>
                  <a:pt x="5486400" y="1051179"/>
                </a:lnTo>
                <a:lnTo>
                  <a:pt x="0" y="1051179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cfa44131a6a4951"/>
            <a:stretch>
              <a:fillRect l="0" t="-23384" r="0" b="-23384"/>
            </a:stretch>
          </a:blipFill>
        </p:spPr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D107DD32-5A4B-4F60-A1A3-83BF6C03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3401" y="3794960"/>
            <a:ext cx="14081198" cy="24889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ts val="9799"/>
              </a:lnSpc>
              <a:spcBef>
                <a:spcPct val="0"/>
              </a:spcBef>
              <a:buNone/>
              <a:defRPr sz="5100" b="0">
                <a:solidFill>
                  <a:srgbClr val="FFFFFF"/>
                </a:solidFill>
                <a:latin typeface="Belleza"/>
                <a:ea typeface="Belleza"/>
                <a:cs typeface="Belleza"/>
              </a:defRPr>
            </a:pPr>
            <a:r>
              <a:rPr sz="5100" b="0">
                <a:solidFill>
                  <a:srgbClr val="FFFFFF"/>
                </a:solidFill>
                <a:latin typeface="Belleza"/>
                <a:ea typeface="Belleza"/>
                <a:cs typeface="Belleza"/>
              </a:rPr>
              <a:t>Few-Shot Personalized PPG-Based</a:t>
            </a:r>
          </a:p>
          <a:p xmlns:a="http://schemas.openxmlformats.org/drawingml/2006/main">
            <a:pPr algn="ctr">
              <a:lnSpc>
                <a:spcPts val="9799"/>
              </a:lnSpc>
              <a:spcBef>
                <a:spcPct val="0"/>
              </a:spcBef>
              <a:buNone/>
              <a:defRPr sz="5100" b="0">
                <a:solidFill>
                  <a:srgbClr val="FFFFFF"/>
                </a:solidFill>
                <a:latin typeface="Belleza"/>
                <a:ea typeface="Belleza"/>
                <a:cs typeface="Belleza"/>
              </a:defRPr>
            </a:pPr>
            <a:r>
              <a:rPr sz="5100" b="0">
                <a:solidFill>
                  <a:srgbClr val="FFFFFF"/>
                </a:solidFill>
                <a:latin typeface="Belleza"/>
                <a:ea typeface="Belleza"/>
                <a:cs typeface="Belleza"/>
              </a:rPr>
              <a:t>Blood Pressure Estimation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D7D1BB27-22CF-4BCD-9D48-A8A6137B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65551" y="6879223"/>
            <a:ext cx="14756898" cy="542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ts val="4200"/>
              </a:lnSpc>
              <a:spcBef>
                <a:spcPct val="0"/>
              </a:spcBef>
              <a:buNone/>
              <a:defRPr sz="25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Progress Update · Cheng Jiangyu · 17 Aug 2026</a:t>
            </a:r>
          </a:p>
        </p:txBody>
      </p:sp>
    </p:spTree>
    <p:extLst>
      <p:ext uri="{BB962C8B-B14F-4D97-AF65-F5344CB8AC3E}">
        <p14:creationId xmlns:p14="http://schemas.microsoft.com/office/powerpoint/2010/main" val="122406747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c2924b781a74c88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DB2517-DA3B-4CFB-A416-542E4E77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Leakage-Safe Few-Shot Evaluation Protocol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D36629-5A40-418D-A3B0-CA3653D6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FCDEE6-B700-425C-9E80-20615724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00200"/>
            <a:ext cx="5334000" cy="300990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5241AE-571A-4EEA-AD11-13D81CD6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00200"/>
            <a:ext cx="952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A0233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C9825A-16E4-4A29-B2B6-E7C6C7FF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7165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Development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5C0042-811F-4CD3-938A-47B407E2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305050"/>
            <a:ext cx="48768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PulseDB development cohort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Subject-disjoint meta-validation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Chronological event ordering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0B6644-A9C0-48AC-87CA-F59C1C85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00200"/>
            <a:ext cx="5334000" cy="300990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7325E-AE8D-4D47-AA85-51DF7B85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00200"/>
            <a:ext cx="952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7A0"/>
          </a:solidFill>
          <a:ln xmlns:a="http://schemas.openxmlformats.org/drawingml/2006/main" w="9525">
            <a:solidFill>
              <a:srgbClr val="2867A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57F2F3-C4CF-4663-B291-46E2FB25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77165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867A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867A0"/>
                </a:solidFill>
                <a:latin typeface="Arial"/>
                <a:ea typeface="Arial"/>
                <a:cs typeface="Arial"/>
              </a:rPr>
              <a:t>Calibration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97847D-D4AB-4B1A-AA23-D61F4CE0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05050"/>
            <a:ext cx="48768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K = 1 / 2 / 3 / 5 reference events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First K events are support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Predict event 6 and later queries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470BA3-D657-46A3-9C57-C383B074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1600200"/>
            <a:ext cx="5334000" cy="300990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76CB4F-612D-45A8-BAA3-21849EAE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1600200"/>
            <a:ext cx="952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9525">
            <a:solidFill>
              <a:srgbClr val="1B7F5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22A984-8510-4A52-A6C5-6AF13A4D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6825" y="177165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B7F5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B7F5A"/>
                </a:solidFill>
                <a:latin typeface="Arial"/>
                <a:ea typeface="Arial"/>
                <a:cs typeface="Arial"/>
              </a:rPr>
              <a:t>Primary 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3D7C43-1C95-49F6-B6B4-AE9EEE88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6825" y="2305050"/>
            <a:ext cx="48768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697 participants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103,564 common queries per K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Participant-macro MAE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C0E27B-DCC7-4D05-9676-337D999B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810250"/>
            <a:ext cx="433387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3EEE59-DC74-49FA-8A67-FFD2FFE6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60483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Population PPG model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063D86-FAC5-4798-B070-E6B45C73A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000750"/>
            <a:ext cx="123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A02337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A0233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405222-C29D-445B-9B56-C87E5757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810250"/>
            <a:ext cx="433387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A0233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852358-6C7A-451B-A3A9-8C8FB897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483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K-event calibration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39BB03-FE79-4F08-8139-38FE6934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000750"/>
            <a:ext cx="123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A02337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A0233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67B262-521D-4274-A037-0770D0FF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75" y="5810250"/>
            <a:ext cx="4333875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689DEE-471F-4D04-B59C-F0128BDE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6875" y="6048375"/>
            <a:ext cx="4333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Event 6+ prediction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B678D6-1ABB-4C0E-A059-B9AADA47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7962900"/>
            <a:ext cx="1428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863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A86300"/>
                </a:solidFill>
                <a:latin typeface="Arial"/>
                <a:ea typeface="Arial"/>
                <a:cs typeface="Arial"/>
              </a:rPr>
              <a:t>Reference BP values in PulseDB are ABP-derived labels, not literal cuff readings.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523EF5-8C71-4AFA-B647-58FD79D9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Meta-validation only · Locked meta-test untouched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ec9a76746d14bec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9B7134-E686-4275-9464-C7D141AA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Models and Personalization Mechanisms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8AC159-CC4F-4827-BEC9-3525D51A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4FE21A-0E4E-4F85-A069-1EC04D8B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287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55D237-ACC4-47EB-8DC2-FE233F2A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4382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Setting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5E9AFE-E5A7-44AF-ACDE-8DDDB8F6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14287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4F7F12-B80D-4525-978C-B94BAFF1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4382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Core mechanism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620857-C2AB-42D5-9F04-3FF4C06C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4287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E65AD-5D5B-456E-9293-74CCD18E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14382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Personalization behavior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C01034-98A9-4F51-9173-DF9B1103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383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61DD9E-A94F-48A3-BF11-ED299B5E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0478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5946CC-D818-4269-A9F9-E2B81BA6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0383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DC0503-C6D5-4ACF-8E0C-5B3B2491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0478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Population BP mean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1074BF-D39A-45FA-902B-76467AB8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383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1FFE5B-28FC-4A21-9E27-D0E3EAB7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0478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No PPG; no calibration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1D0474-E7AF-478B-8A1C-765ECD5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479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9A22D5-CE64-4A17-B6DB-5482EAAB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6574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5D3B6C-73AE-4D35-9F4C-3D3ACE4D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6479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A20BEF-4D7E-491A-A378-D77DF8EE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6574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Last reference BP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73EA9-D35A-4311-AF39-143022A4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6479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087D25-8376-4A35-AFE8-5B289681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6574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Copies the latest support label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BE1801-0370-48A4-B659-BED06207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122AEE-02E2-4200-A899-1E73B895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2670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DED371-8A92-4943-83F4-CE1CD0A2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2575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7F7B9D-5E24-4E45-91C3-80FA7B80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2670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Mean support BP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1D3D08-39EC-4304-AA15-A26BB86A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2575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A4B2AA-C3A1-4E6D-A79B-D401B75C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2670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Averages K support labels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9A170B-A954-4D0C-93AF-D3516B75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671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7267D9-B3E9-473B-AD5C-CF90E0C0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8766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3BA344-C385-4D2E-85AD-EC57297C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8671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10197E4-5A7A-4937-8FB6-5F55134E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8766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Population PPG network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F4596E-F144-46E5-B50A-58D9B577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8671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02A082-C4DC-4B51-9988-977662C7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8766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PPG-only; no personal adaptation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76BE67C-7702-447D-951F-73E2A9E6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767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84F9BB-6C0A-452C-A1B8-A2AC6E5B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4862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7F82B30-8C31-4896-B48A-BDCD58B0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4767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EB5941-CE0E-47B0-9348-D8E724086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4862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Residual offset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E1685E6-9F4A-4A67-AFD6-54E23D8E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4767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EBD101-D2DC-4FC7-BE06-12A0D5DA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4862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Adds mean support residual to B3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3A8639-8644-4970-8E7C-BB9046FB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863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0B46A7-9B56-4985-B6AC-91B6F99A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0958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5F57B31-ADC5-401A-81F2-91CB0EC7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0863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75256CF-3092-4929-897E-C8E53E9A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958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Siamese metric model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5EC00B3-F303-4CD7-92E7-FF3CC123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863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42A001-01F0-4B13-823F-965E60DD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50958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Support-query similarity; K=1 diagnostic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E7A005-DA7C-40B3-8796-2D865E22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959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D7170C-F405-4C82-B5E4-6E605FF0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7054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065C34-94BF-4CEB-B686-A5BB4F65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6959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B1F3B9E-587A-48E2-A2B3-D9687972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7054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Head-only adaptation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3E97B5C-6057-4738-9CB3-C10E5FC5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6959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6A321B0-B72C-4511-AEE3-9F9369F8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57054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Updates only the prediction head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302CA09-C9B0-4299-91A9-2E397690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3055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EDFD08B-7E5C-40CD-879A-0B58026E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3150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B7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B759F0C-94AC-4CA9-A69C-B76CA046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63055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0A350BF-1163-415B-8FC6-C3FB45B4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63150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Full fine-tuning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B125828-74C4-47AB-A259-CB875F80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3055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17F9AF1-9D6D-4F8A-826E-4AB66268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63150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Updates the complete network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44F36F2-51B8-43F4-80F8-728358DE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9151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C1F5BDF-20C0-4CCE-BBB4-9EF782D4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9246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B8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E4131EE-5E45-4E73-BE63-1BA37617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69151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F056030-926F-4A0B-9C08-5B514347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69246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LoRA adaptation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5472222-5AA7-4170-BB17-E6573AF9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9151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BD1F9BE-0701-4C9D-92E9-00983E75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69246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Low-rank parameter update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A25C286-814A-4F52-8704-4B6B4F82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5247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7490105-75B4-4421-A167-D37E0A83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5342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C0FE0DB-A3E8-47DA-A3D0-7A86F7F7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75247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AAC81DD-E37F-428B-977F-F4330AFD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75342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Residual-anchor set encoder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2EB7DE4-BF65-4A31-983B-52F7B1FA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75247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E2CC549-1636-4CC9-A79C-44279246F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75342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Mean residual anchor + support context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0EBAA97-758F-4298-A1D9-7A2B32B5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1343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828DB80-2F31-4CA2-AFD4-48C614BC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81438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42FA888-98B0-4BB3-BD96-2A829547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81343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9036208-570B-4E51-9851-04811F68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81438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+ FiLM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AE8C734-512B-4527-8902-E3C58874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81343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568AD16-1B80-4ADB-99A5-39AA65F1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81438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Feature-wise modulation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FD48CAB-D9F6-42E8-8407-644629D6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743950"/>
            <a:ext cx="200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9366E70-0C02-4C48-92DE-473E90E7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8753475"/>
            <a:ext cx="1962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8663E63-EFBA-4467-A897-57E3D001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8743950"/>
            <a:ext cx="609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31C76D5-FF5F-4A13-89A1-C7486508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8753475"/>
            <a:ext cx="6057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+ reliability weighting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54FBEA4-B1C9-437B-BE27-2599B2B2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8743950"/>
            <a:ext cx="9667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ECDE0A5-7A82-4400-A8A4-0107BA27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8753475"/>
            <a:ext cx="9629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Query-conditioned support weighting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ABB8F86-FD17-43E9-9FD5-AF0916C3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M0 is the current parsimonious candidate; M1/M2 add complexity for ablation.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cd3f54d1ec14838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FAC59A-7BEF-40B9-8753-221E6780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Training Round 1 — Single-Seed Exploration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E7E6B6-197D-45FE-8F10-92C52015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374D34-B3B6-4BF0-A333-D2EF4AA7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04BC4-CE7A-4F89-97B8-B119C177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5335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Setting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E07F8-23BA-46C2-BF50-92A687D4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3AA6EB-2AA6-412A-AB13-92E90909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E2346D-EECD-42D0-A417-20D219AA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A1020D-DF5B-4289-A18F-C40E4787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74BE68-6557-47E5-8360-2C4C609C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1F7219-7F29-4143-AA63-1F83D64A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04A1E3-2668-4E6B-AAEB-910EA378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AF5F18-F881-4298-96A7-C555FD91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ECD067-8E1E-4E64-AD57-4EA46DFC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5240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922894-DEA6-48CF-9A1B-28443EA7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15335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A7FDAD-D4EB-47F2-AF35-40D55788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526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594055-CFC3-443C-9CF1-F797A5E2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1621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B0 Population mean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FF6FD8-1EE7-47EF-9997-7D69D5D8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D1936C-243A-42F0-B636-4F6145BD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E997E7-355A-4FD1-B702-B914BA2F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67A24D-B435-4548-8B1A-9142E84E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7F89DC-ABFF-4A6D-AD75-B76DD2F2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F022B3-D425-40EB-A404-D82FEDB4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9DD893-DD8B-4BB9-BAEB-BA0656B5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7E2E10-84A6-4426-B00F-6D3B0A6A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08DE77-7028-442C-AAA0-6AB69B54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1526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AB68CE-84CE-4BF7-84E6-4939FCC7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21621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No personalization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7DFA3A-E0ED-47C0-8D0E-64209A45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813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150E3A-1E19-444A-96F3-1A9CA667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908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B1 Last reference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B22D85-50CF-4DEC-BB4A-9B9B8170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C32EFD-8996-4892-9980-397D53C6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15.023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F6E3081-9825-4BEE-828A-21984D7E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FC3C75-6833-451D-AB43-F6E0C4D4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13.825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67F1A29-A547-40F8-9E64-5167CD73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3EE87F-8E78-45B1-8EA2-0DC4038C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12.993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7788FD-7EA8-481B-B6F7-5FFDD655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902B13A-38B4-43CD-8E3F-29A1B4AB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12.733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017FC3-4C20-4AB9-92D1-FD38B49A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7813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3320DE-DF29-478A-8E90-0CCFDAC5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27908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Label-only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64268EC-4108-4682-B0C7-384BC190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99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7F5729-42B9-4D4D-9513-DF1942DA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4194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B2 Support mean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BABCDA-9D23-4669-A9D4-44BE5F7A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96C89B-779B-4465-83C6-B0CDF099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15.023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C6AF4DA-70CF-4A3B-AE5D-349D133C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8F91AAC-B770-4602-AEB7-2EF35CA7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13.570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FC14CC9-E6B9-44E7-9A22-3FA10E19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4CDB449-5D58-4F83-A339-AAC9DF86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12.755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AF840B-4DC3-457D-AAE3-B6B0B0C7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AC306B9-7D8F-4AE8-9B9E-581F6505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11.948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20837CF-2F7C-43F1-AE47-8B10C5A3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4099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835AB94-0C64-44A6-9105-CE1A4501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34194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Label-only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ED5F7A0-CA88-411B-BB9F-9B3B657F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386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8E1A45A-FC66-438E-AE26-23E58356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0481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B3 Population PPG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8CF047-3773-49DD-97CC-CBF6A289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A92C92C-C56F-41E9-AFC5-DA14CD1E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11.638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12B899C-C8F3-4646-B37F-884C7B06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0EC11C4-015D-4511-8530-98B86091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11.638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C361C24-4CD0-474E-BF1C-82BE8D36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99E8C47-695D-4954-A8AD-26A6D44A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11.638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E525335-AD13-4BC6-A3B0-1FE28E4B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1F2A581-6975-4F76-ADF9-931D1360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11.638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2C61A58-9E2D-496A-B00A-4BC51CBD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0386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B8C8173-172E-4171-9614-D18DD232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40481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PPG-only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E765530-A00E-4F89-BCFF-A59FEA26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6672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9B8D2CE-444C-4988-97C2-3DCE883A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6767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B4 Residual offset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C04EF51-992E-4C56-B6F9-DCE0DB89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8BEDCA0-189B-4863-9D4D-9FC00CF2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12.305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3966696-045C-4CC6-85AC-A977D5AD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7828F76-C1A1-411B-A06E-E5C78B02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11.190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E0C0FC0-ABEF-4E60-B3A7-042EB02A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9D4C113-55DA-4FD8-9D7F-6D303FEE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10.593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DF6BC70-23C7-4D59-9E83-023123C3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5267CDC-12E0-42D2-85B5-18F541AA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9.931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941B759-0EAF-4C5F-ACA7-2A00B9A6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6672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B8589EC-A471-432B-A690-211080E9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46767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Simple calibration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EDC90FE-320B-4C52-A422-54845DFB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959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0B68A1E-75F3-4FBF-9034-A29B4FF9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3054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B6 Head-only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51D281D-0BEE-427C-BA00-CD3BCB6F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ABF6FF8-233E-4683-B819-1B4C854B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10.975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100763F-C782-44C7-A993-342463583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02E4D5F-93B7-44AB-92C2-D20D9F66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10.427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4EF4F48-1699-4799-8490-7F132C6F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7061002-C12C-423D-8172-884B15EF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10.040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2C5FC70-A81E-4FD1-AB77-81C88932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8667C54-ED19-4B1C-9B97-0288D7B4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9.554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99F08AA-0AE4-4250-8201-58391609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2959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46E167C-F97A-4A3A-B6FB-2F729709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3054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Gradient adaptation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7F5EF7E-4587-47CC-8EA8-8AB75D1B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245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DF22C74-DFCE-47A9-9505-1527B8D0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9340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B7 Full fine-tune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BBF0FB0-BF44-4E34-AAB3-D00C51EA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3E4B30E-1D22-45E1-86F2-44C82A8C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15.032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28C0B3A-EAED-4EF4-9D25-6C3F1E33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DB2AD68-A17D-4CB5-8FE3-446D6B542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13.381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E792226-2E75-432D-8ED0-88C34570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F996D9D-0F6F-44FC-B9BE-FA4DA714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12.498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B76FEF7-A57A-4A05-8F08-65FD2AA1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4A33BD9-D073-4EB2-9620-68FFB60D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11.862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DF15657-F2E8-4B47-BD45-9FB952E9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9245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B1C85F1-9F6C-4AA4-9F6C-04712124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9340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Unstable few-shot fit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317B444-4C32-4563-B95D-67ADE7CE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4E99238-6DA4-4BFB-914C-01CEDA30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5627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B8 LoRA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CC87B5C-57E8-44E5-B30F-C8F4D33E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B09DFB2-8DF2-417D-970E-34CFE564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10.372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73381EE-9ED7-4498-98E3-30AEC708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27A10C0-93D9-41DD-BCB7-EC8E8E31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10.043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DB2A210-90F5-49D0-963B-64564A34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7D2F49D2-ADFF-4EAF-909A-DE5A07E2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9.824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62D262D-883D-4318-8232-7E488D83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F0E2C79-C3F4-490B-A338-5737758F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9.509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5224DC45-86DE-4A97-A361-6E35B45F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5532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4FAAF3FE-41C0-47CA-84DA-35BD433E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5627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Parameter-efficient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B5CC3914-2172-4F4C-9F5B-EEB44A2F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1818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8848DA0-C2B6-4449-BF94-B38DC663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1913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M0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681112C-AAD3-4F67-B670-5376FEB3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EACC53F9-8685-4F64-A080-AA353B02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9.998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36ECED8-86B5-4CB5-B076-1463B8FD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DBE08E7-209F-4A04-BAD9-B2457FE3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9.435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6A73C97-201D-4F02-B7BF-4A42CE3D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BA0A0B3E-F905-4081-A72E-C04E1D38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9.119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8DEC831-D45A-436B-99B9-2D470F9D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8F500F1-AA01-449A-8C91-482156B3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8.688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33F824F8-16AF-4D30-AB56-9390DCE6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71818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BA3821B7-DB34-436E-8479-11A4B112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71913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Best overall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A954399D-0B8B-4567-A67B-E5BD0FB6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8105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F2A0582B-E19A-4C54-AF4C-15B0708D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8200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F8C2CC3-5A11-4698-883F-EEC3AD57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11204884-E0C7-44A0-AE78-B023743C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10.307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5D1DA1A-34E4-4149-B0F1-44EC5D9A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93378AF5-F2A4-40F7-A0FB-DA7EA58E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9.630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0FB2ECC-2302-4748-8D39-ADA003DA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439A64D-4C34-475D-AA6D-66691D81A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9.280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E587FE3-EEE8-4EC1-9D04-022837D4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1FA99902-8E34-43E9-9A77-1978A7E3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8.818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7B48C620-9A9D-466D-ACA5-BDCD593E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78105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F0F87406-11C4-44C1-9363-BE920F41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78200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+ FiLM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510D8DF0-E65B-435C-ABAD-E4D26ACF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4391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1789A9F1-5C77-4F95-A105-3F0920FB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84486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E250ACF5-7B25-419A-AE71-8648534B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8EA1E069-155D-4F3D-AB99-B7A614F5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10.622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5EDB8387-D57D-4165-BAF8-2D3FD01E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FF722090-202E-4E3A-A619-DE61BB0B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9.807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9490755E-C267-4C8C-9655-FE04CF9B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BCFD0CC-8C87-478C-9CCF-1FDD97D3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9.381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7F79DD16-C693-4FB9-87B7-D1D884BA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99FD235D-8CFC-4746-9FCC-7EC68D84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8.873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B78C1FC0-3B99-463D-A9FE-354DF814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84391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1CB2F4DD-BD57-4DF1-A33E-E0E5DDEE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84486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+ weighting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0E7BD090-E23E-4D75-9491-B55F5F02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0106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Participant-macro mean MAE (mmHg) · seed 20260813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E50039B-3B35-4279-8023-CB6A8FAC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Meta-validation only · Locked meta-test untouched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c4c515f4b3f4c66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FD631-DF39-4618-93F5-70853395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Training Round 2 — Five-Seed Early-Stopping 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183987-E382-41E4-BDBD-188A52F7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9C83B-EEBB-4452-B6AB-DB89DFFA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DF13AB-B896-4B60-8285-496551F7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15335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Setting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C8BE5F-48AA-4FE3-85BE-50F1F9A0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BB6FC-38EA-4476-B82C-122941ED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73B122-CAE2-4C76-B41E-E1F5DB91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F6CDF7-317B-49AF-B9EC-57742E7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FBD824-F19E-4BE6-85D3-FCF4123B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D546FC-D591-4ACA-84D8-BBEAE716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184A7E-BF50-48EE-8707-AD35B383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5240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F719AF-CE99-4946-B5A6-C26CAF9B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5335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0D3065-E67B-4E72-BFF1-49F12076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5240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110145-8AD4-4B26-870D-7FFE8448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15335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Change vs Round 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59F8E2-E136-4F0F-9D8E-DCE6A697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526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E5B3E7-E25E-4ECB-A477-F85BAB22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1621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B0 Population mean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D1649F-0FDB-496F-932A-F07006B4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DEDC44-74F4-4279-A8DD-6EAF3BB2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C8E9F2-7B48-4DB5-B008-00C18F76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6BF0DC-C726-46E7-8823-EFA093B7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CC29A7-717D-4FF2-9E44-14ED829F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905876-9ABE-4325-A00D-F7C181EC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D8A940-46AB-480D-B2A3-10A184D6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526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CA39A0-5A54-44F5-9367-2690860F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1621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13.620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B17346-7204-4408-AB8D-F1C904AC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1526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67EB54-79DF-493E-AD6A-8D392E9D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21621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3E29AA-D0B1-4A01-8385-66EC5B34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813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47A1C9-7FE4-4DF9-8137-16B61C8A5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908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B1 Last reference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5C5FF9-E268-4470-827C-193F167D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4EF3321-786E-4843-B31E-372FA2CC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15.023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9E4145-948D-4C63-A01B-33948A45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C4C434-587A-494F-B9F0-F05AB22B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13.825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BEB558-26F2-4EA1-AF6C-7A615C45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976C72-7097-43CA-8A6B-C0C58823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12.993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48BC48-3037-478E-B8CD-0E025222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813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7832593-96B0-4194-9AFE-0C9C0DCE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27908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12.733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98162D-519A-4B93-A3FE-4689738E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7813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EAF376-E945-4179-A0AD-EFBDAD84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27908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E4B166-870D-4227-A892-217312CA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099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C60117-75EC-4C49-82E6-8E3F8B71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34194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B2 Support mean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7D11F8-D971-4295-891F-FDBEEC02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006E03B-973E-44C3-BBF6-C6D78BB1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15.023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07D1AD3-E21F-48B8-9EA2-F0C9D108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9A4C8C-7CB5-4765-8EEF-7B6FE74B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13.570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1535854-A26C-41DD-9169-1C64A430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4B56A44-FA03-4B4E-BFCB-225E0946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12.755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D3FA5E9-4CA5-465D-80A9-D9BBCBD3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4099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45EADB2-D51A-4C0F-A1D0-F2D9D398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4194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11.948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7C31901-C9A5-4978-89CE-E7459119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4099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867A1A0-D8B3-49D4-9AA0-F9BE3F3C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34194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—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97AE9AE-52E5-47D9-947F-D8924D39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386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77F246A-A6F3-41B2-8046-5D387D73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0481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B3 Population PPG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261196-3D72-47B9-93B3-F712C6F7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BCA0BE7-60FC-45FE-BFED-2EC44D9D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11.710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32B2E1E-CF2A-4BF5-944B-FA34DEA5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11CA03A-287C-4B92-9392-764D3408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11.710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83F28FA-5CDD-4A8C-B3FB-3263101D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8007F-2C58-4995-9715-9BB8E668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11.710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3BC8101-A320-4DF3-B301-C92BB108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0386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46B225C-85D6-4BBC-9E1B-93E1DE41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0481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11.710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50BFF9C-C8D9-476F-BF5F-2B6AE4AD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0386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1BA4A5E-0D79-4EB2-9AC5-341A55DE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40481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+0.072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2A28A6C-2759-4D5D-8DF2-C8706428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6672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F6E5406-1BF9-44CF-AFE5-4D295C0F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46767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B4 Residual offset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014F6E4-BEE5-4EAA-9C72-63CAD10A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1E87BBF-BE79-4888-A797-33EC5AFF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12.327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78D020B-9C97-46B8-9F46-7595BDEB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0EB5090-397A-4C82-BB6D-66A6884B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11.200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FC86052-4512-4FAD-AA19-216AA714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6A8879D-8708-436D-9D13-B5DC1B06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10.624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C798EFB-EC20-4243-AF8B-36130AD9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6672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0823181-7A4B-435A-9BA3-BB416F8D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6767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9.951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66C05B0-BB26-47C2-BA18-A9D24FAF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6672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44C2920-A937-43E2-AE7A-D53E8FC9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46767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+0.020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8ACBA28-22EF-4A24-B010-A0232545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959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E0A2EF9-3944-42A3-BAF5-AB106E66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3054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B6 Head-only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785DB8E-91EF-4A51-AC28-65D3A04E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C2AA865-6FBE-4737-ACF4-205E5AC1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10.963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1B22BA7-6F43-414A-8731-194D4559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A67BAE7-ED45-47CD-BC07-33136DD5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10.472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D3D9646-08BA-4B8F-A174-A205523E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FF397AA-504F-4B7E-B31F-0ADC7BE3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10.105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6E9D79E-722A-4808-A13E-B252D115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2959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D8E89CD-C0F2-4DAC-AEBD-248C39AD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3054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9.588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77469BC-B977-4C9E-B47D-486BFBBD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2959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D282864-02FC-495D-A511-6A422E74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3054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+0.034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43E1C51-5465-42A0-ACD2-7FDB1D22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245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E67B4D2-B7CB-4DA4-8DAC-7A2853E4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9340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B7 Full fine-tune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94D6192-6F6C-4D05-A3B8-3D8E5F92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C1001F5-0C7D-4844-B3C9-F7CBB2DD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15.042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1FF2BDF-1364-4686-A116-F44DBC5A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0844091-088B-443E-8B9C-5E5332F6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13.382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89962C0-CBA6-4C7B-B0E1-27C66B0D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29B1BA4-098D-434E-9851-E083995E4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12.520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2C69850-4A0C-4399-9A01-1C1AAB5A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9245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5BCB6E8-CF25-4A9C-BE58-EEDD848D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9340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11.842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6528F23-2EB2-4684-BD4C-B4EC0E1E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9245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6E2FCF0-304D-4F9D-9BD8-62A72FEC3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59340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−0.020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B6C7029-F15B-4DEF-AA5C-DFC3067E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0752B70-D118-479C-8A3B-F1392E2D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5627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B8 LoRA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8468CFA-CAA8-4D9F-9BFC-C1BE4F0F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E1A4E7FE-BD61-498D-A2DA-99AA757C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10.499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E785E15-DF95-443D-8350-2C516879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7CE484E-1A8D-4FB3-BFA4-56EB23E1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10.140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68ADB1C-FBA3-455E-84B9-1750FFDA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7232B248-15D9-472C-BA12-FD28B4A8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9.944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B08B859-0101-4441-9EEE-BC633AD3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65532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D952112-BA80-49A1-A65E-F9A98997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65627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9.608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6B1BB06-5C02-41C7-ADDC-CE83311A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5532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A312841A-5A01-46CE-ABA8-743AA9B8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5627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+0.099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EF99E520-651A-47F3-AFC9-205C41AA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1818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FA4E7B7C-FC60-43F9-865F-982164A3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1913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M0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2C85DB6-E62A-4388-8DF3-63C40962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EDEF7A7-70A1-4E83-BA7C-AEECB23C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10.081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B4B49B2-DCD6-431C-968F-5DC43046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B1E549F-04AC-4497-8D9E-52E196F1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9.526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5A36DB2-E78A-43C3-B03A-AAA6FBE1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B4D8BEE6-B15C-41E6-9724-32FDA067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9.235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C0F507A-0475-41CF-8590-65894B19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71818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CD79F73F-625C-445E-BA70-7C407283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71913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8.785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0153A6F-91B0-4A55-8E16-14E1DCD5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71818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38F9B72F-67ED-430E-9573-8DFF1C9B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71913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+0.097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E4DA6CE-541D-4379-9A99-470B67CD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81050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4A02CEE-5AE8-4464-951D-509D8EEA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782002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C7B1428-A386-4E3A-933A-1878471C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C7B2F6B9-A47F-484A-AB27-1DB1254E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10.190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1ED7FF50-A666-4BC0-82D9-340B28DC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F8232B45-6025-4035-AA3A-EC40BB42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9.563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D834610-2F67-4938-9B9B-A7C2788D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2DAE27B-3577-4001-A5B5-FF96F9AE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9.251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6B7B615-6CF3-439B-A063-BB23B0EA0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781050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AA3606A5-E40B-4B7D-9FE7-4408CD01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782002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8.807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4FD61A3-BE30-447E-A6C5-9EEA9D38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781050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7CD1E9F-C478-4710-A7F9-AE2AC23B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782002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−0.011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84DFEB7E-6FE3-4411-9725-5BE4AC74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439150"/>
            <a:ext cx="3714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BA395EBE-73E3-4037-B5EB-CB10DB90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8448675"/>
            <a:ext cx="3676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D3FAFF4-B3CE-4D68-9DDE-37E78828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1D8F749D-4015-4EE5-87E5-1C075014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10.233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6C7A07FF-06B5-4C6C-8EE1-FBBD7D69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F5840CAD-C282-4A90-A6C8-8D7B3CE8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9.641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4502C424-AF81-42B3-B15C-08EF956D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403CF8E2-E068-4C3F-8953-606B0B66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9.332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FD682D22-0822-4933-9A90-134E28E2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8439150"/>
            <a:ext cx="171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C09B87F9-EC71-4CB7-8562-7B8DE9B2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8448675"/>
            <a:ext cx="167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8.834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C932A501-77DC-4187-8313-7F1463BA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8439150"/>
            <a:ext cx="71913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85A7D681-BBEA-4260-AB4B-8265B07B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8448675"/>
            <a:ext cx="71532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−0.039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429221E-6B45-4ECD-9EA7-B6BBE90F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01065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Participant-macro mean MAE (mmHg) · mean across 5 seeds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0F407F39-4386-4340-B2A0-98287B78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Meta-validation only · Locked meta-test untouched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4b94d0c757c4831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632C9-3F48-48C2-9701-BE93FEBF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M0 Performance by Calibration Budget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94449F-8C1F-4608-85FD-5701B88D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49B81C-B469-483A-B536-6AD32C61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2857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AB8556-1028-4B07-A0DA-6A3C2B1A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19275"/>
            <a:ext cx="28194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Calibration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513A2-8A6B-429D-AC97-68319C20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97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0984F-2680-4D1A-A0BE-B2E68238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8192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Overall MAE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F5DD8F-7D78-4F56-AC61-8119502F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A12210-7E4D-43A8-95A1-12FFBECE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192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SBP MAE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D0B3A4-EE70-45EC-BBF5-202B5715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8097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36F-8795-42AB-930E-13D884C64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18192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DBP MAE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9DE02B-0AEA-4A8E-ACCF-4A2A1B93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8097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74579D-FFDC-4CCE-9130-397CC4A1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18192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Gain vs B3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070834-1457-4013-9EAA-11F7B22B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9875"/>
            <a:ext cx="2857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D35E6D-7CD7-4403-B7FD-D1C53253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19400"/>
            <a:ext cx="28194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K=1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9D27CB-4B5B-4151-9968-86EE8321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09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9CD58A-8AA3-4AB3-9B9A-31EAE6ED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81940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10.081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662F49-08C6-4F30-BAAB-2D05EFD8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09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6F766A-1741-4E4A-B35A-57213DCF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81940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12.920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A953A8-1D24-4319-8CA9-9592C6E9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809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6A2FAB-8615-46FE-9EA7-88D17F76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81940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7.242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84D4F6-125B-431A-BC9F-1F9AD07C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809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D2EAC5-20D1-4844-B1A3-D93DF376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281940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1.629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E439B7-F050-4063-8A71-A0080DA4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6BDCFF-AF65-499F-A349-A93F47DD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9525"/>
            <a:ext cx="28194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K=2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E5E589-23CE-40F5-BA65-68347CCE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1000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9A99FB-0DD1-493D-8232-764FA755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81952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9.526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260175-D0D3-4CE4-A8EA-678031C2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1000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ACB836-8965-48DA-8190-EE6BDACC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1952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12.240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BC6BB0-437E-4459-BE35-6D9E163D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81000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A27F50-17AC-4923-A80F-67A9BB22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81952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6.812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E44472-D22A-47C6-A140-CE91F47E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381000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9B8D67-8DC6-4EAE-B674-75347763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381952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2.184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D3EF796-A76D-44FD-A7E9-D697121B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0125"/>
            <a:ext cx="2857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E381227-2F32-46EC-9B90-8A3465276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28194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K=3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C57FE2-D115-4E29-B517-E8FC19E6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10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95E223-9827-4B96-8D6D-DA2A13C1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965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9.235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B2A7D6-7B52-492E-B213-1D6BE99E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10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2FFB592-8DC4-4CB9-81EA-4789DA6C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81965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11.894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26232A5-3306-45A6-8102-374C6013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810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44A6BF-7005-42B3-B462-2FAD8F56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81965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6.576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A9F83F1-6002-4E3B-B99D-2270A3F1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4810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C953F98-389C-4F2F-AAB3-A1547435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4819650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2.475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9BEBD08-0875-47AE-9BA7-360B0595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2857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583FB81-5516-4827-8D4C-ACDCA4F9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19775"/>
            <a:ext cx="28194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K=5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2D716F-375F-4EC9-B73D-76BF0B32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8102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B5C1B3E-47E3-4C0F-A806-0006CCEB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8197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8.785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F62A792-2898-4D60-AA0A-01D62657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8102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F33389B-8F36-43B0-9607-832D3A0A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97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11.318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D74B40B-B02A-4CD6-AA6E-5FDB06A4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8102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42BCC7-6E63-415E-B1E4-30416A3A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8197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6.253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1A67501-AC25-4683-8E27-E094B928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5810250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2F1C0E9-3CA7-448D-9058-C227750D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0" y="5819775"/>
            <a:ext cx="31051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2.925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E16AA11-50DF-47E3-81E1-32B9A47E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524750"/>
            <a:ext cx="4762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EFD64CA-AD8F-48C7-BDFF-5E2B5757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524750"/>
            <a:ext cx="95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9525">
            <a:solidFill>
              <a:srgbClr val="1B7F5A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5447708-06B0-4052-ACFA-2067F6EA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7696200"/>
            <a:ext cx="430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7F5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B7F5A"/>
                </a:solidFill>
                <a:latin typeface="Arial"/>
                <a:ea typeface="Arial"/>
                <a:cs typeface="Arial"/>
              </a:rPr>
              <a:t>9.407 ± 0.104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9F8C823-A549-447E-838C-8F2D7594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229600"/>
            <a:ext cx="4305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Four-K mean MAE across 5 seeds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D305834-D4AB-4C58-96CA-676EEDB6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7524750"/>
            <a:ext cx="4762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CF268EB-C8C2-4D57-9838-F1FC2C40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7524750"/>
            <a:ext cx="95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A02337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F60BCFA-AED9-48E5-80FF-C4442684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7696200"/>
            <a:ext cx="430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0.046 mmHg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08189E0-11D9-4469-9756-AC400CCF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8229600"/>
            <a:ext cx="4305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advantage over M1 (four-K mean)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BA1FACC-35B4-42E1-8D71-171AC2F8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7524750"/>
            <a:ext cx="4762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78E058B-24B0-400D-901A-31C5D42A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7524750"/>
            <a:ext cx="95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7A0"/>
          </a:solidFill>
          <a:ln xmlns:a="http://schemas.openxmlformats.org/drawingml/2006/main" w="9525">
            <a:solidFill>
              <a:srgbClr val="2867A0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A44AACA-D876-4345-BC6B-90D5F18F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7696200"/>
            <a:ext cx="430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867A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867A0"/>
                </a:solidFill>
                <a:latin typeface="Arial"/>
                <a:ea typeface="Arial"/>
                <a:cs typeface="Arial"/>
              </a:rPr>
              <a:t>0.103 mmHg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A3DD98E-95FC-4925-BAF4-85F6E17D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8229600"/>
            <a:ext cx="4305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M0 advantage over M2 (four-K mean)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F7E164E-D50D-494C-A103-C1BA7389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M0 remains the simplest leading model; small M0–M1/M2 gaps are not claimed as decisive.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8935433c0d34399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29DED1-C1B8-45EF-B506-D1C0463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Historical Calibration-Free 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2F9190-3CDB-458D-AD8B-E024451A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741D6D-6D85-4377-B57F-B21B49F6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333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B25194-4921-4890-91F3-BD628046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32956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Experiment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0E5C30-1034-48E0-B562-974E7FFB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952625"/>
            <a:ext cx="581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34839D-1261-420F-A2E6-A06BCBD1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962150"/>
            <a:ext cx="5772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Dataset / protocol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08F479-3278-4DDD-8735-0152B669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95262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572D7F-E147-4186-8274-38884543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96215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SBP MAE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66C355-F6CE-47BA-9084-284C0A84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195262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BB320-047A-4667-A11D-31D48821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196215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DBP MAE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45D2A6-6384-49CD-8895-6A805C42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1952625"/>
            <a:ext cx="3619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95BC5F-7B10-4DFB-A428-BA099A0B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7550" y="1962150"/>
            <a:ext cx="3581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39081A-B72D-443A-8C6E-27F164CB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3333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1D2F93-5B1F-4C72-9E72-EAE68C18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32956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Historical XResNet-50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D54DD9-34B6-4BF5-AA33-2A2E2EA8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90875"/>
            <a:ext cx="581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00595E-B02E-4258-9E65-8DA390F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00400"/>
            <a:ext cx="5772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VitalDB; calibration-free; window-level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BB909B-8548-4837-A7AE-978AE61E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031B9B-AA15-4BA6-A66F-9B26E5CD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20040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12.492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2E1FF3-FB48-40A3-B30C-2E01DC54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19087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12FED2-2718-4068-A14A-864E22D1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320040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8.059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C1B508-D0FE-4AFC-A76A-81ECC8B0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3190875"/>
            <a:ext cx="3619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2A0739-B966-4E83-990B-866678E1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7550" y="3200400"/>
            <a:ext cx="3581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Prior baseline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2D08E7-40E1-40A7-944D-2ED0A0B8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333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7F2A1C-23D4-4A6D-BF3E-09EEF320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32956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Current M0 (K=5)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292978-4C39-4099-9577-6DC82C9D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29125"/>
            <a:ext cx="581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035DFD-0821-41E3-8B36-04A1EA34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438650"/>
            <a:ext cx="5772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PulseDB; few-shot; participant-macro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361C0A-766E-4911-BAA2-D5AF5323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42912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9BA56A-5475-498C-B0C2-ED145819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3865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11.318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51BEF9-C325-4738-8E8C-B1990501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29125"/>
            <a:ext cx="2381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526B7B-2427-4668-A6D2-F4C91C37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4438650"/>
            <a:ext cx="2343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6.253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D45A30-2D0F-4AB4-8741-967F6A3B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0" y="4429125"/>
            <a:ext cx="3619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DD8A4FF-E527-4EDE-B894-554E8F33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7550" y="4438650"/>
            <a:ext cx="3581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Personalized model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777B3A-C8A9-4CDD-9FA1-51049BCB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286500"/>
            <a:ext cx="148590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EE7ABA-2539-4681-90C0-40716CE6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286500"/>
            <a:ext cx="95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300"/>
          </a:solidFill>
          <a:ln xmlns:a="http://schemas.openxmlformats.org/drawingml/2006/main" w="9525">
            <a:solidFill>
              <a:srgbClr val="A8630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DA9CE0-A81C-47EB-BBF7-9C0D9ECF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457950"/>
            <a:ext cx="1440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A863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86300"/>
                </a:solidFill>
                <a:latin typeface="Arial"/>
                <a:ea typeface="Arial"/>
                <a:cs typeface="Arial"/>
              </a:rPr>
              <a:t>Not an apples-to-apples comparison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4E8EC47-76AF-496B-B051-8D3649CC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6991350"/>
            <a:ext cx="14401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The dataset subset, split, metric aggregation, and calibration protocol differ. The historical result is shown only to motivate the transition from calibration-free to personalized prediction.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605F4F-B9C7-4F2C-B017-3EA9095F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Meta-validation only · Locked meta-test untouched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f797f77388b400e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A02F35-07EE-4C50-9EE4-4D629810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Where Does Error Remain?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5CDF1A-F42A-4BE8-8C1D-EB09E545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24BF17-418E-4A42-8ADF-1625DF3F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184547-76BA-46C2-BB22-D548BC53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819275"/>
            <a:ext cx="2819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BFA69E-49FB-460B-ACE2-D16CA250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809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2C6A0-F061-4240-8F7E-DDF26A43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8192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Participants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B0A385-D8E0-46B3-B961-DA87F1BC3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809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A36352-02F7-4012-9501-A9701351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8192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F1038-AEDD-4E8B-AED9-BCCFDAE0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809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44DC59-1341-4FD4-ABCB-0733E783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18192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312021-E29F-4EDC-BA8C-BED1EB8C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809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602317-753A-4827-8981-D5961EDF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18192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2287C9-FC0D-4289-A351-D31A0222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1809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7F182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EE10C3-B069-42C5-ABB3-192E693E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18192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K=5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D5394C-D253-4901-92F9-F5083277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6225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C0CF92-C135-4FC6-A20C-AEE10CE9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771775"/>
            <a:ext cx="2819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MIMIC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05C286-CFA7-4E4C-9974-3E229B3A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622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875242-747B-424C-9704-B5A3A5DE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7717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316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8FFF3B-4664-41CE-BA84-D6CDFD3F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622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4ED36F-A3C8-4B7F-B601-F23B7BB0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7717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10.337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DE9BE5-2FD4-4672-B0F5-6FC07F53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7622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9D9A24-5DDE-42B9-BE07-A8C982FA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7717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9.895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C131AE-5BCA-45E7-ADD3-5DBDAAAC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27622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B4699B-AF0E-4CA5-8292-B13923C1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27717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9.662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45330D-65DE-49EA-802C-E872D47F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27622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27E9B1-6920-4D05-A06F-B0D38982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27717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9.344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AB87A1-FADA-4EA6-B9B1-62ADDDEB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14750"/>
            <a:ext cx="2857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7DB019-94E5-4421-A077-CD55FA92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724275"/>
            <a:ext cx="2819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VitalDB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135688-F3DA-42FF-8B35-4D75C138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714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3EE0D1-EE27-4382-BE49-84500C47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7242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381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01DC03-0A9F-4953-8450-3471E987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D4B08D-38F3-45B2-905F-0CC18E8A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7242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9.717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008628-D6C9-4C9D-B286-F12BB96B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714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F75F92-60D7-427E-9CB7-C313A503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7242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9.053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5E44D2A-A136-4D0A-A6B9-F4E6D71E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714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DF8A5F-73FF-4625-AAEA-B3DC6528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37242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8.669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17CDEB-D16B-4625-B4C9-24E881BB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3714750"/>
            <a:ext cx="2476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5C49AA-FD8E-4535-A3AC-BA629EBD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75" y="3724275"/>
            <a:ext cx="2438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66675" tIns="28575" rIns="57150" bIns="285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8.144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7888FBA-4908-4006-B593-29BE4D47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381625"/>
            <a:ext cx="4953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E360B7B-0E44-4EC8-AE9D-1F750430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381625"/>
            <a:ext cx="95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9525">
            <a:solidFill>
              <a:srgbClr val="1B7F5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B29946E-9414-49E8-83FA-0710303B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53075"/>
            <a:ext cx="449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649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B7F5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B7F5A"/>
                </a:solidFill>
                <a:latin typeface="Arial"/>
                <a:ea typeface="Arial"/>
                <a:cs typeface="Arial"/>
              </a:rPr>
              <a:t>7.72 mmHg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133E6E-A949-4931-9DA5-6B8F5D99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6086475"/>
            <a:ext cx="4495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K=5 participant median MAE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3EA74A-8EA1-43E2-8AD8-CA23B353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81625"/>
            <a:ext cx="4953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B2B5E4-3A14-4C32-B9C6-465151B8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81625"/>
            <a:ext cx="95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300"/>
          </a:solidFill>
          <a:ln xmlns:a="http://schemas.openxmlformats.org/drawingml/2006/main" w="9525">
            <a:solidFill>
              <a:srgbClr val="A86300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35C1DE-D4B8-4B94-97F1-53957714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553075"/>
            <a:ext cx="449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649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A863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A86300"/>
                </a:solidFill>
                <a:latin typeface="Arial"/>
                <a:ea typeface="Arial"/>
                <a:cs typeface="Arial"/>
              </a:rPr>
              <a:t>14.67 mmHg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5D80611-0DCD-4DC8-B346-6ABC8542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6086475"/>
            <a:ext cx="4495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K=5 participant 90th percentile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6E407AF-5F84-4256-AF79-6035B972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5381625"/>
            <a:ext cx="4953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7E9EC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19B2333-134C-4BB0-AE94-C799E060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5381625"/>
            <a:ext cx="95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A02337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103B497-74D5-4F78-B85F-50EEB4B1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5553075"/>
            <a:ext cx="449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649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16.92 mmHg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5FA9604-13E9-4392-9919-0A9B8BFE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075" y="6086475"/>
            <a:ext cx="4495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K=5 participant 95th percentile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B9180DC-1309-48C8-86DC-D0C0D7A4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7981950"/>
            <a:ext cx="1619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Next analysis: common patterns in high-error participants · BP range/change · signal quality · source/device · time horizon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8A0E5FE-53E3-41E9-9E28-70B7095C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8620125"/>
            <a:ext cx="1619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Any deployable quality gate must use inference-time inputs only — never query BP or true error.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D20365E-C225-4151-B6AD-ADE91D38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Meta-validation only · Locked meta-test untouched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E17D7C-62D3-4C0E-9367-A17F8611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200150"/>
          </a:xfrm>
          <a:custGeom xmlns:a="http://schemas.openxmlformats.org/drawingml/2006/main">
            <a:rect l="l" t="t" r="r" b="b"/>
            <a:pathLst>
              <a:path w="24384000" h="1600200">
                <a:moveTo>
                  <a:pt x="0" y="0"/>
                </a:moveTo>
                <a:lnTo>
                  <a:pt x="24384000" y="0"/>
                </a:lnTo>
                <a:lnTo>
                  <a:pt x="24384000" y="1600200"/>
                </a:lnTo>
                <a:lnTo>
                  <a:pt x="0" y="1600200"/>
                </a:lnTo>
                <a:close/>
              </a:path>
            </a:pathLst>
          </a:custGeom>
          <a:solidFill xmlns:a="http://schemas.openxmlformats.org/drawingml/2006/main">
            <a:srgbClr val="A02337"/>
          </a:solid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4A85593E-F1BA-4B0A-9EDF-357D5344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86261" y="130821"/>
            <a:ext cx="897867" cy="897867"/>
          </a:xfrm>
          <a:custGeom xmlns:a="http://schemas.openxmlformats.org/drawingml/2006/main">
            <a:rect l="l" t="t" r="r" b="b"/>
            <a:pathLst>
              <a:path w="1042543" h="1042543">
                <a:moveTo>
                  <a:pt x="0" y="0"/>
                </a:moveTo>
                <a:lnTo>
                  <a:pt x="1042543" y="0"/>
                </a:lnTo>
                <a:lnTo>
                  <a:pt x="1042543" y="1042543"/>
                </a:lnTo>
                <a:lnTo>
                  <a:pt x="0" y="104254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1c07d35bdbd44b3"/>
            <a:stretch>
              <a:fillRect l="-7801" t="0" r="-7801" b="0"/>
            </a:stretch>
          </a:blip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0272ED-7C78-47AB-98A7-83725B92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7625"/>
            <a:ext cx="1428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Third Training Stage — Find Improvement First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8FBE9B-631E-497C-BF70-AC969A9F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0" y="9525000"/>
            <a:ext cx="76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19897-3164-43B4-8E8B-1FFBAAAA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8334375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F27B4C-06FF-4584-9646-90CA60612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95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02337"/>
          </a:solidFill>
          <a:ln xmlns:a="http://schemas.openxmlformats.org/drawingml/2006/main" w="9525">
            <a:solidFill>
              <a:srgbClr val="A0233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BE68BB-217A-4BCE-B6B4-3F81257B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43075"/>
            <a:ext cx="78771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1 · Fixed-first support protocol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3D6FA9-3E32-4BFE-8F78-9BC91DDB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76475"/>
            <a:ext cx="78771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Train: events 1–K → all event 6+ queries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Validate: events 1–K → all event 6+ queries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Compare against current rolling-recent support training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700626-ED32-4162-A0A8-A408ABE4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571625"/>
            <a:ext cx="8334375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18E764-CB59-49C4-8362-3FB1CC8DC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571625"/>
            <a:ext cx="95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7A0"/>
          </a:solidFill>
          <a:ln xmlns:a="http://schemas.openxmlformats.org/drawingml/2006/main" w="9525">
            <a:solidFill>
              <a:srgbClr val="2867A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B6785A-D2E2-41AE-9F69-CCF21744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743075"/>
            <a:ext cx="78771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867A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867A0"/>
                </a:solidFill>
                <a:latin typeface="Arial"/>
                <a:ea typeface="Arial"/>
                <a:cs typeface="Arial"/>
              </a:rPr>
              <a:t>2 · Demographic conditioning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A2FF99-9086-4A71-9874-4CF7E8DC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276475"/>
            <a:ext cx="78771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Audit age/sex completeness and consistency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Encode age using meta-train statistics only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Use an explicit unknown category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E9DE95-1EEE-4BDE-B9AA-29947D1E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83343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8F5EF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B31B7A-A79D-4F2F-8BA6-86DAF2F1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95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9525">
            <a:solidFill>
              <a:srgbClr val="1B7F5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2A2D0F-BFB1-4F8E-A661-497FE02E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78771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B7F5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B7F5A"/>
                </a:solidFill>
                <a:latin typeface="Arial"/>
                <a:ea typeface="Arial"/>
                <a:cs typeface="Arial"/>
              </a:rPr>
              <a:t>3 · Residual-tail-guided M0+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187DFA-B15F-4CD3-BE9C-3EA0D327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7877175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Test one intervention at a time: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robust loss · robust support anchor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BP-change-aware episodes · PPG-only uncertainty gate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16328D-6257-4D84-8E10-057D695F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000500"/>
            <a:ext cx="83343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9525">
            <a:solidFill>
              <a:srgbClr val="D9DC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04ADA4-9B9D-4FBA-9587-7F584E05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000500"/>
            <a:ext cx="95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300"/>
          </a:solidFill>
          <a:ln xmlns:a="http://schemas.openxmlformats.org/drawingml/2006/main" w="9525">
            <a:solidFill>
              <a:srgbClr val="A863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991976-68F7-4E8C-B89F-768BB44F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4171950"/>
            <a:ext cx="78771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A863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A86300"/>
                </a:solidFill>
                <a:latin typeface="Arial"/>
                <a:ea typeface="Arial"/>
                <a:cs typeface="Arial"/>
              </a:rPr>
              <a:t>4 · Long-horizon diagnostic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71D62C-96C3-4EB2-9C4A-551ADB96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4705350"/>
            <a:ext cx="7877175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Use event 80 as a secondary stress test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Avoid making 75–79 → 80 the primary task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02124"/>
                </a:solidFill>
                <a:latin typeface="Arial"/>
                <a:ea typeface="Arial"/>
                <a:cs typeface="Arial"/>
              </a:rPr>
              <a:t>Support/query horizon mismatch would confound interpretation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F6C59F-2962-47FB-BB8F-B74E2F1D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91375"/>
            <a:ext cx="160020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CF5F6"/>
          </a:solidFill>
          <a:ln xmlns:a="http://schemas.openxmlformats.org/drawingml/2006/main" w="9525">
            <a:solidFill>
              <a:srgbClr val="A0233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3ABDFF-39F7-4D7E-A59C-77079DD6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334250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Stage A: single seed → identify a meaningful gain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F1EFA6-EA46-4552-971E-C25F4DBA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7334250"/>
            <a:ext cx="114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93254"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A0233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A02337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F49C4E-7456-43F9-9220-965FACC5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7334250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7F182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F182A"/>
                </a:solidFill>
                <a:latin typeface="Arial"/>
                <a:ea typeface="Arial"/>
                <a:cs typeface="Arial"/>
              </a:rPr>
              <a:t>Stage B: multi-seed / multi-fold confirmation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F06650-8A61-43B3-A173-8A12F15B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8020050"/>
            <a:ext cx="1428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0212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124"/>
                </a:solidFill>
                <a:latin typeface="Arial"/>
                <a:ea typeface="Arial"/>
                <a:cs typeface="Arial"/>
              </a:rPr>
              <a:t>Promotion gate: improve multiple K values, reduce SBP and tail error, and preserve strict leakage control.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FE95F4-6EFF-42EC-A1F0-0FE7384D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5440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368"/>
                </a:solidFill>
                <a:latin typeface="Arial"/>
                <a:ea typeface="Arial"/>
                <a:cs typeface="Arial"/>
              </a:rPr>
              <a:t>Exploratory candidates are selected on meta-validation only; locked meta-test remains untouched.</a:t>
            </a:r>
          </a:p>
        </p:txBody>
      </p:sp>
    </p:spTree>
    <p:extLst>
      <p:ext uri="{BB962C8B-B14F-4D97-AF65-F5344CB8AC3E}">
        <p14:creationId xmlns:p14="http://schemas.microsoft.com/office/powerpoint/2010/main" val="20472144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2026-08-17T08:52:38.7870000Z</dcterms:created>
  <dcterms:modified xsi:type="dcterms:W3CDTF">2026-08-17T08:52:38.7870000Z</dcterms:modified>
</coreProperties>
</file>