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e8d3f20ac84b89" /><Relationship Type="http://schemas.openxmlformats.org/officeDocument/2006/relationships/extended-properties" Target="/docProps/app.xml" Id="R26d98e54cbe2421c" /><Relationship Type="http://schemas.openxmlformats.org/officeDocument/2006/relationships/officeDocument" Target="/ppt/presentation.xml" Id="Rbb76f7b6377b44a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02e67be760c4f2c"/>
  </p:sldMasterIdLst>
  <p:notesMasterIdLst>
    <p:notesMasterId xmlns:r="http://schemas.openxmlformats.org/officeDocument/2006/relationships" r:id="Rff96c54ed3e2427f"/>
  </p:notesMasterIdLst>
  <p:sldIdLst>
    <p:sldId xmlns:r="http://schemas.openxmlformats.org/officeDocument/2006/relationships" id="256" r:id="R120f135d9a7a416c"/>
    <p:sldId xmlns:r="http://schemas.openxmlformats.org/officeDocument/2006/relationships" id="257" r:id="R4512051c8bdc4ee2"/>
    <p:sldId xmlns:r="http://schemas.openxmlformats.org/officeDocument/2006/relationships" id="258" r:id="Rd1cf928c5aa240b5"/>
    <p:sldId xmlns:r="http://schemas.openxmlformats.org/officeDocument/2006/relationships" id="259" r:id="Reff8c761dbb94874"/>
    <p:sldId xmlns:r="http://schemas.openxmlformats.org/officeDocument/2006/relationships" id="260" r:id="R4e784498a3974734"/>
    <p:sldId xmlns:r="http://schemas.openxmlformats.org/officeDocument/2006/relationships" id="261" r:id="R9c331af7af8e4117"/>
    <p:sldId xmlns:r="http://schemas.openxmlformats.org/officeDocument/2006/relationships" id="262" r:id="Re4f20acb97b54523"/>
    <p:sldId xmlns:r="http://schemas.openxmlformats.org/officeDocument/2006/relationships" id="263" r:id="Ra98e00fa665e45cb"/>
    <p:sldId xmlns:r="http://schemas.openxmlformats.org/officeDocument/2006/relationships" id="264" r:id="R4dcd391b1a1145d9"/>
  </p:sldIdLst>
  <p:sldSz cx="18288000" cy="10287000"/>
  <p:notesSz cx="6858000" cy="9144000"/>
  <p:embeddedFontLst>
    <p:embeddedFont>
      <p:font typeface="Belleza"/>
      <p:regular xmlns:r="http://schemas.openxmlformats.org/officeDocument/2006/relationships" r:id="Rad694e35cddd4050"/>
    </p:embeddedFont>
    <p:embeddedFont>
      <p:font typeface="Times New Roman"/>
      <p:regular xmlns:r="http://schemas.openxmlformats.org/officeDocument/2006/relationships" r:id="R785745541f5f41ba"/>
    </p:embeddedFont>
    <p:embeddedFont>
      <p:font typeface="Times New Roman Bold"/>
      <p:regular xmlns:r="http://schemas.openxmlformats.org/officeDocument/2006/relationships" r:id="Rf550b42d95c3485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b9975fc80f42ac" /><Relationship Type="http://schemas.openxmlformats.org/officeDocument/2006/relationships/slideMaster" Target="/ppt/slideMasters/slideMaster1.xml" Id="Rb02e67be760c4f2c" /><Relationship Type="http://schemas.openxmlformats.org/officeDocument/2006/relationships/notesMaster" Target="/ppt/notesMasters/notesMaster1.xml" Id="Rff96c54ed3e2427f" /><Relationship Type="http://schemas.openxmlformats.org/officeDocument/2006/relationships/presProps" Target="/ppt/presProps.xml" Id="Rcae34e4ac8f145d7" /><Relationship Type="http://schemas.openxmlformats.org/officeDocument/2006/relationships/viewProps" Target="/ppt/viewProps.xml" Id="Rf7e37511d1f345dc" /><Relationship Type="http://schemas.openxmlformats.org/officeDocument/2006/relationships/tableStyles" Target="/ppt/tableStyles.xml" Id="Rbe9c77e7e14e418b" /><Relationship Type="http://schemas.openxmlformats.org/officeDocument/2006/relationships/font" Target="/ppt/fonts/font.dat" Id="Rad694e35cddd4050" /><Relationship Type="http://schemas.openxmlformats.org/officeDocument/2006/relationships/font" Target="/ppt/fonts/font2.dat" Id="R785745541f5f41ba" /><Relationship Type="http://schemas.openxmlformats.org/officeDocument/2006/relationships/font" Target="/ppt/fonts/font3.dat" Id="Rf550b42d95c34853" /><Relationship Type="http://schemas.openxmlformats.org/officeDocument/2006/relationships/slide" Target="/ppt/slides/slide1.xml" Id="R120f135d9a7a416c" /><Relationship Type="http://schemas.openxmlformats.org/officeDocument/2006/relationships/slide" Target="/ppt/slides/slide2.xml" Id="R4512051c8bdc4ee2" /><Relationship Type="http://schemas.openxmlformats.org/officeDocument/2006/relationships/slide" Target="/ppt/slides/slide3.xml" Id="Rd1cf928c5aa240b5" /><Relationship Type="http://schemas.openxmlformats.org/officeDocument/2006/relationships/slide" Target="/ppt/slides/slide4.xml" Id="Reff8c761dbb94874" /><Relationship Type="http://schemas.openxmlformats.org/officeDocument/2006/relationships/slide" Target="/ppt/slides/slide5.xml" Id="R4e784498a3974734" /><Relationship Type="http://schemas.openxmlformats.org/officeDocument/2006/relationships/slide" Target="/ppt/slides/slide6.xml" Id="R9c331af7af8e4117" /><Relationship Type="http://schemas.openxmlformats.org/officeDocument/2006/relationships/slide" Target="/ppt/slides/slide7.xml" Id="Re4f20acb97b54523" /><Relationship Type="http://schemas.openxmlformats.org/officeDocument/2006/relationships/slide" Target="/ppt/slides/slide8.xml" Id="Ra98e00fa665e45cb" /><Relationship Type="http://schemas.openxmlformats.org/officeDocument/2006/relationships/slide" Target="/ppt/slides/slide9.xml" Id="R4dcd391b1a1145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1bbe695de84d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13ec9f2add46de" /><Relationship Type="http://schemas.openxmlformats.org/officeDocument/2006/relationships/notesMaster" Target="/ppt/notesMasters/notesMaster1.xml" Id="Rd491124cb0b04b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8c9133bc1a4f99" /><Relationship Type="http://schemas.openxmlformats.org/officeDocument/2006/relationships/notesMaster" Target="/ppt/notesMasters/notesMaster1.xml" Id="R6c4194ac54d246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edf9c86a584d18" /><Relationship Type="http://schemas.openxmlformats.org/officeDocument/2006/relationships/notesMaster" Target="/ppt/notesMasters/notesMaster1.xml" Id="R7f8fc252b4884d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64ed3aba904049" /><Relationship Type="http://schemas.openxmlformats.org/officeDocument/2006/relationships/notesMaster" Target="/ppt/notesMasters/notesMaster1.xml" Id="R87cc1f5759b5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4d2dd12e4941fc" /><Relationship Type="http://schemas.openxmlformats.org/officeDocument/2006/relationships/notesMaster" Target="/ppt/notesMasters/notesMaster1.xml" Id="R62eb5d34b84646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09db3ef2dc4383" /><Relationship Type="http://schemas.openxmlformats.org/officeDocument/2006/relationships/notesMaster" Target="/ppt/notesMasters/notesMaster1.xml" Id="R8548689002fe4a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2574d8aec4433d" /><Relationship Type="http://schemas.openxmlformats.org/officeDocument/2006/relationships/notesMaster" Target="/ppt/notesMasters/notesMaster1.xml" Id="R2de87f0bc20947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b373f63b4f41c3" /><Relationship Type="http://schemas.openxmlformats.org/officeDocument/2006/relationships/notesMaster" Target="/ppt/notesMasters/notesMaster1.xml" Id="R6358be0c53934e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7822a618d04ea3" /><Relationship Type="http://schemas.openxmlformats.org/officeDocument/2006/relationships/notesMaster" Target="/ppt/notesMasters/notesMaster1.xml" Id="Rd3aaf73e4a8345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progress report; no external claims on this slide.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BP\docs\STATUS.md</a:t>
            </a:r>
            <a:endParaRPr/>
          </a:p>
          <a:p xmlns:a="http://schemas.openxmlformats.org/drawingml/2006/main">
            <a:r>
              <a:t>- C:\Research\Calibration PPG BP\docs\METHODS.md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The locked meta-test is not accessed during model selection.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BP\docs\METHODS.md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Prior VitalDB calibration-free XResNet-50 experiment summary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Do not interpret the numeric difference as a controlled head-to-head gain.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BP\docs\PHASE6_HIGH_ERROR_ANALYSIS.md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The worst tail is defined using observed meta-validation error and is therefore oracle-only. PPG SD is an amplitude proxy, not a validated signal-quality index.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BP\docs\PHASE6_EXPLORATION.md</a:t>
            </a:r>
            <a:endParaRPr/>
          </a:p>
          <a:p xmlns:a="http://schemas.openxmlformats.org/drawingml/2006/main">
            <a:r>
              <a:t>- C:\Research\Calibration PPG BP\docs\PHASE6_HIGH_ERROR_ANALYSIS.md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Jobs 819 and 822–825 are isolated single-factor candidates. Fixed-first job 818 is a protocol ablation. Locked meta-test remains untouched.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f49358be9841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14712487f440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bd96c143845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884c65f53442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4c885e20845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d590b677224ce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b8d48e4b143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52488efe3746e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88930e0d84471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3ec0e43eff421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4ec36bef054b3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788374-A82D-4519-A987-FD61D80D3B8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B259AA7-A0F7-45F7-8A15-67CA921785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FE1CFD-20ED-42F1-8A76-0A9B1850CD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64685A-1971-4F67-809A-25373C3BEF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AC354D-2F0A-4EE0-8D51-69C94E1591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184E08-076F-4F07-B91D-8698A9445E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7620915-9A24-4451-84DC-8FB633F0BB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AE584-7AA4-45BF-BFA8-9DBFBB9FCE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2EE2FE-BCB7-4808-ADB2-01450F2F9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35FE82-EB72-4C13-84FF-FFE289BF6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A29ABA-2BC9-4693-B918-71AC63706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CAE3D2-4FB4-4097-A7A9-BB2D05849C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6A2D6D-FABA-4619-B07F-271555CB12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7EE686-FA94-49A3-BF1E-02C0B76980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792660-1674-4FBE-9A39-2632125B7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C7D5AF-6B9B-447B-9BC6-CE7AB04F4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007A2D-72A7-48A3-B176-CC1C9D967F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6F490CC-8868-4060-AD54-D67F64945C5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0945FF-1B48-4BB9-813B-B634A5498D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1406535-E7E5-4CE0-9A92-088A29CA52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9322F36-3ABF-477F-9CA5-6B644CF0E7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3F7903-53A5-4ADE-B5F3-3ED515FE4F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7E4B01-E66E-4D9B-B30E-B3A18373E4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D05883E-6FBC-4527-A4AF-4176111B494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A47CB0-D18F-4AE3-9C9F-CC0BFB93FA1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16B6848-0F1D-4640-8EFF-FD299E38E5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9B6799E-8FD3-4D96-8D20-13D3B65185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8EA73AE-A52C-4785-9739-094D2AF74F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1B75C33-1062-4198-958D-6A82C78EFD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2FFB17-DDE9-4120-B75D-A7A01748A9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FEA7C86-7109-47B5-94E2-143C42EA93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B2120F0-ACEE-4073-B5C5-944454EB14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EA26C21-121F-4E57-9737-69CE3B5E3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04EEB7-8F7C-4464-84B8-9AFE9F248A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6DE5D14-8CFB-4119-AF9A-BCA0FC4DD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9DEB7DC-4DD9-43D1-84E2-02EE6FAD27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51BB38-883A-4C23-80BA-342A39E45B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59859BB-454B-4846-994B-45FE7322DF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17A473-3987-4D15-A601-3A0F72D042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E1957A-E402-41F9-BB36-43F45E9452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F2D7783-BCB5-4F6D-B52A-F99B79BD91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7420F70-8DB8-43AA-96ED-C985B9B1E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A48CF8-8209-4727-B1C4-D0AD90F2C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C836B5F-B63D-4EBF-AB34-95B9C0E3ECE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853615C-7911-4801-85CA-4FFB1E80E4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778EC95-5CB3-451D-AD23-D814E994A8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53EDB2A-EFD5-477C-BB05-647FB31897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4E8366C-5063-4A8D-8BD7-D32A25999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05259-C476-4050-92D1-943BABFE41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BAC3B0-F6B1-4BB2-81D5-25A3FE436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FA02B3-41CF-4080-9EF1-13F3FDEF3E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AA2F309-EDB7-4557-8AB2-04F6BD5AF5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D54770-B84D-419F-B6E7-5C1915902F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46719D-DD8C-4EC0-98E5-2B9F212F2B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D0A846-643A-4B52-B35F-1A4FF010FA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C32A34-A3BD-4A47-B38D-E033A06800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71023A-AF7A-4EF4-988E-4915486919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60F94E-DE8B-4B57-80C4-9D99D4B56F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77f2011ee54ecb" /><Relationship Type="http://schemas.openxmlformats.org/officeDocument/2006/relationships/slideLayout" Target="/ppt/slideLayouts/slideLayout1.xml" Id="Rb81ddede41574d4a" /><Relationship Type="http://schemas.openxmlformats.org/officeDocument/2006/relationships/slideLayout" Target="/ppt/slideLayouts/slideLayout2.xml" Id="Rc5bda30c01814458" /><Relationship Type="http://schemas.openxmlformats.org/officeDocument/2006/relationships/slideLayout" Target="/ppt/slideLayouts/slideLayout3.xml" Id="Rdbb07e8e8d2d41cc" /><Relationship Type="http://schemas.openxmlformats.org/officeDocument/2006/relationships/slideLayout" Target="/ppt/slideLayouts/slideLayout4.xml" Id="R3ddb2a2c38c644d5" /><Relationship Type="http://schemas.openxmlformats.org/officeDocument/2006/relationships/slideLayout" Target="/ppt/slideLayouts/slideLayout5.xml" Id="Ra66ea01b7493459c" /><Relationship Type="http://schemas.openxmlformats.org/officeDocument/2006/relationships/slideLayout" Target="/ppt/slideLayouts/slideLayout6.xml" Id="R9ca07eee567e44d2" /><Relationship Type="http://schemas.openxmlformats.org/officeDocument/2006/relationships/slideLayout" Target="/ppt/slideLayouts/slideLayout7.xml" Id="Rd5cf710145ef4fed" /><Relationship Type="http://schemas.openxmlformats.org/officeDocument/2006/relationships/slideLayout" Target="/ppt/slideLayouts/slideLayout8.xml" Id="Rf98827c00cb14217" /><Relationship Type="http://schemas.openxmlformats.org/officeDocument/2006/relationships/slideLayout" Target="/ppt/slideLayouts/slideLayout9.xml" Id="R1173cca393674ac4" /><Relationship Type="http://schemas.openxmlformats.org/officeDocument/2006/relationships/slideLayout" Target="/ppt/slideLayouts/slideLayout10.xml" Id="Rbc005050bcfa4ff8" /><Relationship Type="http://schemas.openxmlformats.org/officeDocument/2006/relationships/slideLayout" Target="/ppt/slideLayouts/slideLayout11.xml" Id="R9eff82999b0d428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6594B10-A7A3-4971-ADB4-615E90F790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179E10D-4D17-4241-B0A6-E3350BAFC5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FBC9A4-701F-4973-8BA2-44E245192C1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2D9F04-9EEA-4EB2-B2F8-ABA50FDF1C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B3054D-2C06-4027-AA33-5FB2168B8F8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ddede41574d4a"/>
    <p:sldLayoutId xmlns:r="http://schemas.openxmlformats.org/officeDocument/2006/relationships" id="2147483650" r:id="Rc5bda30c01814458"/>
    <p:sldLayoutId xmlns:r="http://schemas.openxmlformats.org/officeDocument/2006/relationships" id="2147483651" r:id="Rdbb07e8e8d2d41cc"/>
    <p:sldLayoutId xmlns:r="http://schemas.openxmlformats.org/officeDocument/2006/relationships" id="2147483652" r:id="R3ddb2a2c38c644d5"/>
    <p:sldLayoutId xmlns:r="http://schemas.openxmlformats.org/officeDocument/2006/relationships" id="2147483653" r:id="Ra66ea01b7493459c"/>
    <p:sldLayoutId xmlns:r="http://schemas.openxmlformats.org/officeDocument/2006/relationships" id="2147483654" r:id="R9ca07eee567e44d2"/>
    <p:sldLayoutId xmlns:r="http://schemas.openxmlformats.org/officeDocument/2006/relationships" id="2147483655" r:id="Rd5cf710145ef4fed"/>
    <p:sldLayoutId xmlns:r="http://schemas.openxmlformats.org/officeDocument/2006/relationships" id="2147483656" r:id="Rf98827c00cb14217"/>
    <p:sldLayoutId xmlns:r="http://schemas.openxmlformats.org/officeDocument/2006/relationships" id="2147483657" r:id="R1173cca393674ac4"/>
    <p:sldLayoutId xmlns:r="http://schemas.openxmlformats.org/officeDocument/2006/relationships" id="2147483658" r:id="Rbc005050bcfa4ff8"/>
    <p:sldLayoutId xmlns:r="http://schemas.openxmlformats.org/officeDocument/2006/relationships" id="2147483659" r:id="R9eff82999b0d4286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8cb94833e24997" /><Relationship Type="http://schemas.openxmlformats.org/officeDocument/2006/relationships/image" Target="/ppt/media/image.png" Id="Recc5b68304a24791" /><Relationship Type="http://schemas.openxmlformats.org/officeDocument/2006/relationships/notesSlide" Target="/ppt/notesSlides/notesSlide1.xml" Id="R172b5988a6d343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3fb44174ec45b8" /><Relationship Type="http://schemas.openxmlformats.org/officeDocument/2006/relationships/image" Target="/ppt/media/image2.png" Id="R2f73718620ae405d" /><Relationship Type="http://schemas.openxmlformats.org/officeDocument/2006/relationships/notesSlide" Target="/ppt/notesSlides/notesSlide2.xml" Id="R14534baab51e48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9bf51ec66345cd" /><Relationship Type="http://schemas.openxmlformats.org/officeDocument/2006/relationships/image" Target="/ppt/media/image2.png" Id="Rf0926c8320a045af" /><Relationship Type="http://schemas.openxmlformats.org/officeDocument/2006/relationships/notesSlide" Target="/ppt/notesSlides/notesSlide3.xml" Id="R94cd764e12c146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cbd135457a48bf" /><Relationship Type="http://schemas.openxmlformats.org/officeDocument/2006/relationships/image" Target="/ppt/media/image2.png" Id="R2d15436cb3eb483e" /><Relationship Type="http://schemas.openxmlformats.org/officeDocument/2006/relationships/notesSlide" Target="/ppt/notesSlides/notesSlide4.xml" Id="R535e5568262e46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4ea82cfb6e43c3" /><Relationship Type="http://schemas.openxmlformats.org/officeDocument/2006/relationships/image" Target="/ppt/media/image2.png" Id="R02f9e8563e0947ef" /><Relationship Type="http://schemas.openxmlformats.org/officeDocument/2006/relationships/notesSlide" Target="/ppt/notesSlides/notesSlide5.xml" Id="Raf733f75376e40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139f0327244630" /><Relationship Type="http://schemas.openxmlformats.org/officeDocument/2006/relationships/image" Target="/ppt/media/image2.png" Id="Rc16a108187164688" /><Relationship Type="http://schemas.openxmlformats.org/officeDocument/2006/relationships/notesSlide" Target="/ppt/notesSlides/notesSlide6.xml" Id="R9c8cb714db7444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c10480c94a40c0" /><Relationship Type="http://schemas.openxmlformats.org/officeDocument/2006/relationships/image" Target="/ppt/media/image2.png" Id="Rfb5e1269850b4217" /><Relationship Type="http://schemas.openxmlformats.org/officeDocument/2006/relationships/notesSlide" Target="/ppt/notesSlides/notesSlide7.xml" Id="Rdf0ed081a6c04d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14647dccae46ac" /><Relationship Type="http://schemas.openxmlformats.org/officeDocument/2006/relationships/image" Target="/ppt/media/image2.png" Id="Rd53dc2852b764c45" /><Relationship Type="http://schemas.openxmlformats.org/officeDocument/2006/relationships/notesSlide" Target="/ppt/notesSlides/notesSlide8.xml" Id="R458719f7717e40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faa6d5bbbb4892" /><Relationship Type="http://schemas.openxmlformats.org/officeDocument/2006/relationships/image" Target="/ppt/media/image2.png" Id="Re91454699b8b43b5" /><Relationship Type="http://schemas.openxmlformats.org/officeDocument/2006/relationships/notesSlide" Target="/ppt/notesSlides/notesSlide9.xml" Id="R0d9e296f62ba4f0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781C444-8E89-48B7-89DD-008C081E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1840391"/>
            <a:ext cx="18288000" cy="6606219"/>
          </a:xfrm>
          <a:custGeom xmlns:a="http://schemas.openxmlformats.org/drawingml/2006/main">
            <a:rect l="l" t="t" r="r" b="b"/>
            <a:pathLst>
              <a:path w="24384000" h="8808292">
                <a:moveTo>
                  <a:pt x="0" y="0"/>
                </a:moveTo>
                <a:lnTo>
                  <a:pt x="24384000" y="0"/>
                </a:lnTo>
                <a:lnTo>
                  <a:pt x="24384000" y="8808292"/>
                </a:lnTo>
                <a:lnTo>
                  <a:pt x="0" y="8808292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4AEE951-C2A9-46FC-B182-3B592B19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2444" y="574967"/>
            <a:ext cx="4114800" cy="788384"/>
          </a:xfrm>
          <a:custGeom xmlns:a="http://schemas.openxmlformats.org/drawingml/2006/main">
            <a:rect l="l" t="t" r="r" b="b"/>
            <a:pathLst>
              <a:path w="5486400" h="1051179">
                <a:moveTo>
                  <a:pt x="0" y="0"/>
                </a:moveTo>
                <a:lnTo>
                  <a:pt x="5486400" y="0"/>
                </a:lnTo>
                <a:lnTo>
                  <a:pt x="5486400" y="1051179"/>
                </a:lnTo>
                <a:lnTo>
                  <a:pt x="0" y="10511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cc5b68304a24791"/>
            <a:stretch>
              <a:fillRect l="0" t="-23384" r="0" b="-23384"/>
            </a:stretch>
          </a:blipFill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D107DD32-5A4B-4F60-A1A3-83BF6C03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3401" y="3794960"/>
            <a:ext cx="14081198" cy="24889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799"/>
              </a:lnSpc>
              <a:spcBef>
                <a:spcPct val="0"/>
              </a:spcBef>
              <a:buNone/>
              <a:defRPr sz="5100" b="0">
                <a:solidFill>
                  <a:srgbClr val="FFFFFF"/>
                </a:solidFill>
                <a:latin typeface="Belleza"/>
                <a:ea typeface="Belleza"/>
                <a:cs typeface="Belleza"/>
              </a:defRPr>
            </a:pPr>
            <a:r>
              <a:rPr sz="5100" b="0">
                <a:solidFill>
                  <a:srgbClr val="FFFFFF"/>
                </a:solidFill>
                <a:latin typeface="Belleza"/>
                <a:ea typeface="Belleza"/>
                <a:cs typeface="Belleza"/>
              </a:rPr>
              <a:t>Few-Shot Personalized PPG-Based</a:t>
            </a:r>
          </a:p>
          <a:p xmlns:a="http://schemas.openxmlformats.org/drawingml/2006/main">
            <a:pPr algn="ctr">
              <a:lnSpc>
                <a:spcPts val="9799"/>
              </a:lnSpc>
              <a:spcBef>
                <a:spcPct val="0"/>
              </a:spcBef>
              <a:buNone/>
              <a:defRPr sz="5100" b="0">
                <a:solidFill>
                  <a:srgbClr val="FFFFFF"/>
                </a:solidFill>
                <a:latin typeface="Belleza"/>
                <a:ea typeface="Belleza"/>
                <a:cs typeface="Belleza"/>
              </a:defRPr>
            </a:pPr>
            <a:r>
              <a:rPr sz="5100" b="0">
                <a:solidFill>
                  <a:srgbClr val="FFFFFF"/>
                </a:solidFill>
                <a:latin typeface="Belleza"/>
                <a:ea typeface="Belleza"/>
                <a:cs typeface="Belleza"/>
              </a:rPr>
              <a:t>Blood Pressure Estimation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D7D1BB27-22CF-4BCD-9D48-A8A6137B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5551" y="6879223"/>
            <a:ext cx="14756898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ts val="4200"/>
              </a:lnSpc>
              <a:spcBef>
                <a:spcPct val="0"/>
              </a:spcBef>
              <a:buNone/>
              <a:defRPr sz="25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Progress Update · Cheng Jiangyu · 17 Aug 2026</a:t>
            </a:r>
          </a:p>
        </p:txBody>
      </p:sp>
    </p:spTree>
    <p:extLst>
      <p:ext uri="{BB962C8B-B14F-4D97-AF65-F5344CB8AC3E}">
        <p14:creationId xmlns:p14="http://schemas.microsoft.com/office/powerpoint/2010/main" val="12240674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f73718620ae405d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7F244-A253-4319-83D7-A69D7B44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Leakage-Safe Few-Shot Evaluation Protocol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3028F-B5B8-478C-8371-378588C6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EE766-3C9B-49C2-B2E7-70FE641F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981FB-012A-47F6-BBAB-162C5820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71E86-FC53-423B-AB4B-60634B4E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Development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8656C-CFCC-4086-9BDD-97BD4887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PulseDB development cohort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Subject-disjoint meta-validation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Chronological event ordering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B9DCD-D2E0-49C3-BA96-3FA5F50F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8C44B-3442-4DFD-A47F-EED62B68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0E5F1A-2EBC-4E41-9334-AFFC41A9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Calibration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923B0-4E66-4827-8DD6-975DD63D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K = 1 / 2 / 3 / 5 reference events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First K events are support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Predict event 6 and later queries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8B0F9-FAC5-4AD0-9BF1-08FA7290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07C3F-B13B-4C96-8234-1F34C76F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312DB-4205-480A-8B66-D1B5CF72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6825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Primary 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97D11-9023-403B-B77C-AA2EADE8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6825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697 participants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103,564 common queries per K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Participant-macro MAE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4ACB2-DB6F-40C8-BBD7-56F8D7DF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17D78-6AC2-4BE6-8B04-86690D8C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PPG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E7BF7-59DE-4AAF-A70A-90E73836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000750"/>
            <a:ext cx="123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A0233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A023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E506AD-CF7E-4AB3-8D15-516C28B6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521121-C48E-4950-9FB7-63565D2B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K-event calibration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D3866F-3CCB-48D0-B447-F9CA5F8F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000750"/>
            <a:ext cx="123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A0233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A023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F3A4AC-4BBA-46BD-9C69-19CDA31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1D7493-458D-4057-82A9-1D76D317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Event 6+ prediction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A74276-5212-421F-8508-2A6EEA14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7962900"/>
            <a:ext cx="1428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Reference BP values in PulseDB are ABP-derived labels, not literal cuff readings.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2B7C08-9D61-4139-80DF-B58CC6BD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0926c8320a045af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DA7D3-D631-4279-9810-D1A2FEFE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Models and Personalization Mechanisms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EE3AE-3DED-44AC-AFE3-283483B0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30C83-BB9C-44A3-ADC4-9405A3CE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65C5D-2088-4B48-B9EF-3A5A671B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438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7D3ED-2E78-4D7A-8958-0D312E00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428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3A53D-BD59-40CF-BAB3-D6D9C8E0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38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Core mechanism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98D736-902E-4064-8EBF-0A2D05D3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77057-A343-48EA-9170-40B290B5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438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Personalization behavior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C4420A-ADFA-4300-91FA-19CE95C1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38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32F893-68F8-4F0F-8478-C881F456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047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74F93-D24A-4AA5-9198-28E42414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38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EF7A04-7969-48D6-ADDD-2D549C4D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047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BP mean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91F0DC-52EF-48A5-94CF-A72BCDBC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38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F81CD-33FA-497E-9BA6-14348371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47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No PPG; no calibration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FAA6B-755E-448C-8114-B54B5C69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47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804A73-FFC8-430B-AF2A-AD7AF677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657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F37F17-8A41-4C61-86AE-1AFD7630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647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B60031-9F4D-4380-B528-1BD38DA2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657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Last reference BP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AE1A4A-246F-46CB-8EBE-260070C3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647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EFB22-EEF6-4CBC-8EC8-EF5C25F8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657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Copies the latest support label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1FD2A7-FE7C-43E7-B448-8C892A27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67188-0022-4D0E-989C-3685C40C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2670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62F731-E328-4664-ACF7-A4836B7B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2575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CE0CA4-5E4A-44AA-A15B-3483ED4A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670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Mean support BP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4D1DC-BBA7-44DF-B27D-23662DB2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575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98F195-C284-49EA-A7E4-D7F43EDC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2670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Averages K support labels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E0536C-9979-4566-8BF9-00B0FD93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671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CBADD3-042D-40E0-AD3B-16E59C56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8766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4C1DF4-0A23-4ACD-887A-77BE6531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8671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695531-02F9-4178-A0E4-E91A827D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8766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PPG network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483FCA-024D-45C1-8459-0C0F850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671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CCF2CB-60E1-45B8-A38F-B69B5864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8766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PPG-only; no personal adaptation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3A868F-AB01-49A8-BEDE-D60D3CD0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76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30EBD5-FC38-47B8-8EF2-3A767262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486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1DA713-B883-4F78-88DF-2EAEDA8D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476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92E73E-8224-4D0C-81DA-B4C37C90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486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Residual offset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718222-BBE1-4671-B23C-8BAAA969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76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699DFB-9480-4041-8C70-BFECB206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486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Adds mean support residual to B3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9E1630-B43A-4489-9C66-04A1C382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86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7CCA8F-4092-4214-8FA3-41B1DA0B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095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D610CF-4F34-4516-AB83-A8E14819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086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C6749D-532B-4ED9-BF28-93646832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95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Siamese metric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A59D92-0FCF-4A62-9646-61C125A1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86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43AE49-493D-4DEC-8DAA-7694F071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095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Support-query similarity; K=1 diagnostic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D3BADE-21D0-4F8A-A48E-4F2CD67B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95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3B230D-9B50-4A32-80E3-1FEE05A9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05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DBE90BB-1035-4716-B310-9701A494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695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40788B-07B7-4AE0-82B9-70727DCA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705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Head-only adaptation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EB3A0AB-310B-4BFA-9171-E633562B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695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37A2B7-2511-4CAC-BA9A-3EBE2928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705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Updates only the prediction head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7661DBA-49EB-4EC4-9551-02DEF7E7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055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B92FBA-69F7-4EC5-A9F2-5B694ACA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150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83CD83-475C-4EA4-BD57-642FEA70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3055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7027A0-4A91-4A47-B5BB-773B8309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63150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Full fine-tuning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93AFF3-41D6-49D2-9A47-B5B111B0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3055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3A643A-C779-45B5-86C4-8822C92F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63150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Updates the complete network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889318-8D8E-477B-A5A6-48126F4D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9151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EC4B1CD-A048-4F61-A35B-AC5A5702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9246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BF3A7F6-CC86-4FF6-A644-3A86ACD0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9151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B4660A-7D09-4261-B207-2693ECA3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69246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LoRA adaptation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EBEAEC4-4525-4505-AE1A-E642525E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9151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9669579-332F-4AD7-8871-6634EA88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69246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Low-rank parameter update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2C7DA14-0568-4FFC-BB59-26D9F228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524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BEDCC5E-4CB3-4830-B659-A6F2D7CD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534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0762DDC-8164-41DE-AC39-4E15736E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7524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62FAE13-97FA-4D08-973C-8D87D86B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7534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Residual-anchor set encoder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8CC517-0317-460E-BEF7-776EEB95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7524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49377EF-95EC-4EE9-80C3-2A09E428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7534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Mean residual anchor + support context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4109A16-6679-4673-AED7-FAE91D15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134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4E318DA-481C-4E9C-BD7A-C4A5DAB6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143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C8E8479-677B-413C-BA15-4625C9E1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8134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9B6A933-C16A-4ECC-B584-92F3E0FA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8143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FiLM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B5C7739-E15A-4466-BBB6-6E30BDB1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8134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01F6F86-E25D-4DEF-A072-AF1CFC0C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8143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Feature-wise modulation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F6AAD33-4184-4C10-A4CF-F0C98A93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743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E66EC8F-168F-4C36-9B88-18060D21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753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6F7B2C5-66F2-4891-BF51-77B8EA0A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8743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CE3A20E-C432-4156-BF23-500A5C46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8753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reliability weighting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4F765DA-B00F-43DA-B6F6-F7CB5A8E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8743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57880D-8C23-44DB-92F8-90B6C699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8753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Query-conditioned support weighting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2A2DB0B-5B5B-4536-B05E-C20AB449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M0 is the current parsimonious candidate; M1/M2 add complexity for ablation.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d15436cb3eb483e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1EAC4-A419-4444-A441-439F9905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Training Round 1 — Single-Seed Exploration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25C11-86F8-4AFF-AF0E-6FD00FB2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EEF67-D99C-4C8E-99BE-C12E8F8E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418C89-0BED-452D-BFA2-F6AECFD0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335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D0881-CDF5-4688-B1C1-D73D0DD4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A4B82-90D2-46E9-83D1-8992D074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5F503-3FDA-40E5-A066-4B6EEFC5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4D2FE-E6DB-4CB8-9137-091E2515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36E40-AE49-478B-AB1A-32A72262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C3498-9799-4855-AAE4-EBB87007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20DD37-3BF4-41EF-85E3-8A5A9F36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3500F-468B-4E20-A4EE-E6FA4887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7B638-2D09-4929-995B-38E4884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5240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32A717-D99F-4E01-BFF0-2E9F9591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15335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70B2D8-71BA-4DE6-BF9A-500FEEAD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7FE7B-3CDF-417E-AF63-71B1B6FB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621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 Population mean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762432-1AFE-4803-925E-FD6A684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45EB3-BEBA-47E3-8B72-E2DCD57E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D80551-6AF1-4A9A-8502-F3152EF7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4BB951-84D7-4756-A6BC-C3A8C561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C4AD57-6277-4292-903D-3C2AF93B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9030AF-3F97-4D8F-B278-695370D5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2497E2-812E-4373-86D2-17B7C337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7DB122-BC8D-4C06-B03C-7C3ED5BE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EBFF89-581F-44A5-BFC0-D0C327AD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526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0B522C-A9D9-41CE-A8A3-B303F8F3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1621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No personalization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32286-3262-4112-9682-D532F090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3FE485-C167-405B-A825-D3DBAB90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908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 Last reference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661E59-8246-424E-B1C6-4072D3DD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69CED0-2FE3-4B50-84A0-8A833EDF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23FC1E-F989-4807-802B-AD32391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1CC980-B315-485F-AC03-34BFFB51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13.825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E71F7D-FE09-4938-86DF-521EDFD4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6E2193-2B8D-4772-9DA1-29067D17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333C16-0760-4D7B-A01B-6336D596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8BE20B-7521-4F3F-A66A-C6A18188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12.733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02F34F-FA45-4DBE-B027-1D331660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7813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AD2654-3A9E-4EF1-8CE6-07C83AFB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7908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Label-only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9837EC-ADD8-4464-96CC-27F1F864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49FD0D-985B-4C4F-84BA-5A8FB2A4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194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 Support mean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09703F-19B5-4AB5-A71A-8E48F1A5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95FC-BC5A-423C-A1D7-28F9EC6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95EF51-228A-4B9A-81CA-9EABD09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FE2158-4E4C-42E3-87CB-403228AC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13.570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4148948-8571-473A-9DD3-3C801A2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660266-D323-4075-95AF-A73B4F7E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12.755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2A8FF0-B14E-4914-9AD9-813036B7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28D041-19F9-4C64-A413-307944FB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11.948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40101C-A48B-4847-A3F1-600183A6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4099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E776BE-3A00-4DD9-B37C-4E962E17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4194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Label-only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18613A-DE77-480E-BE45-873AB694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7FC28A-A292-49E0-9B22-BEF74E98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481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 Population PPG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7F6EAD-5A4C-49FD-8DD7-845FFB6E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BE1843-A10F-4A90-A582-69DC0993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496634-C32A-4307-B4C1-90132951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4E6467-927C-40A4-A5F7-D094B67E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B7A7FBB-7926-44CD-9608-9F88EF84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A3FD62D-2A6A-494A-BFF5-47D43FB6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DC26AA4-DFD2-4DD2-A0D9-62FCE5E3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35A3ED-7F49-421A-AEE2-5840110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90AB46D-65FF-47E0-A0C4-41EEF1E0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0386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D4EA785-2A5F-4440-BD22-B091E0F3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0481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PPG-only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BF4190B-DA97-4A16-BA4E-5A13815A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672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C7AD6D-240D-4CBD-85DC-C6B6401A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6767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 Residual offset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F361B2D-A6FA-4F1C-9662-1CA65BDC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5C2D57-2EFE-4322-9BC3-18DAE43C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12.305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88EFC28-4D36-4EDE-9486-6358BC03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934873-8560-4119-8B68-0EDAAF8B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11.190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22C6B93-794F-4FA8-A695-21E75982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33B7B39-368E-4CA3-A989-52D1654A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10.593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ADDFBDD-5899-4DC1-A5F1-3D72A909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4B1C421-DF46-4E40-897D-70DCD5AE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9.931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A78A9EC-B495-4E02-BE43-868B9426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6672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6D032E2-1330-4739-9804-B2B9E3BE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6767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Simple calibration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D29238A-3EFE-4C13-9116-138A9339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959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1DD95D6-5049-4A05-9341-BA218265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3054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 Head-only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265C928-20F1-41FB-803D-F2037B47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8554B84-9806-4379-8D9D-0116FE68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10.975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774AB0F-ED94-4A8C-87C0-42351B56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06DB148-6E12-4410-B224-38385AD2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10.427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3EBC88A-8577-4380-834B-28071C03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FBBCAFE-0894-44D6-813A-E2F7AE93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10.040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16F66CE-DD3E-41BC-9CBA-90DAD087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F36B67B-C66A-46CC-83E0-C9BF3CF2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9.554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D27AADF-7939-4382-8D16-5CE08FB1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2959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227746C-0CBA-4BB7-A8B6-576668B5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054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Gradient adaptation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C94C794-AE5D-4CC5-B4AB-257347BE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245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0B626FE-64E9-4159-9071-89466176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9340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 Full fine-tune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C216ED6-3F3B-4C26-8A8D-6DE9CF57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B789938-5BF4-43E1-A190-64ABC444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15.032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9D94564-5020-431B-996D-C5514DF2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1452720-ECE1-48EE-97C0-3F599336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13.381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EFAF44C-EF94-4940-A1CE-4B93757B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551CA3E-C5B4-445A-BCF3-85A8E008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12.498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0F23C03-93B7-4F07-AF77-75D4A665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6245900-599F-4D4A-A587-9CE4CC72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11.862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C4DD4C2-FAE4-47FD-97CC-ED23A597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9245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0F50E1B-3722-4FFA-8040-E8359EE1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340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Unstable few-shot fit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B6E9C4D-1756-4A9B-8EF5-9750734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05E48BF-F2E2-4BFB-B651-0B49BB84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5627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 LoRA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A494D12-1BE4-411E-89E4-BF8F8864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1A6DD09-BCAE-4267-9BEA-CD79DEB1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10.372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BEDB9F5-EC56-4A4F-B1FF-40C8653D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3BA8954-B53B-457A-B887-86D697AC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10.043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9A49D22-905B-4290-BB6E-8B3A4F36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CA3D179-1BB8-4273-97E7-CCE260E4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9.824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48F1581-A08C-4BA4-8D65-FB80E866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B053D25-08CA-4734-8041-E02D07D7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9.509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0EE4D24-0E39-4541-8C53-B8981FAC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5532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081D498-DB25-409D-BEC7-9296FCCA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5627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Parameter-efficient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7FB5BB0-22D5-4AE2-B17C-C30DAFEC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818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A488B0B-B88D-4B1A-9451-97A258C5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1913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F124A38-7B4B-4911-9154-58F54089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FB78CC3-93A4-42DA-BFAC-32ED5231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9.998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4F0F57F-843D-491C-8431-DAF3C2C0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67422B2-9F12-4820-9084-C777C662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9.435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793D939-3E03-4853-AAD7-CDCFBD89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C6B2663-8D0C-4824-AFBF-A2ADE8B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9.119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82DFAFC-4E27-42D2-9BD0-34B73A4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14F74EC-56EF-41FA-AA97-CF1A2C6A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8.688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BB48652-16D9-48CA-96F6-DD837C8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1818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940968A-D280-495A-8AE3-78B56EEA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1913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Best overall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C6233D2-20FA-4FC5-9E65-472E8937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C80F7F9-F69C-4089-A70E-9191C2C0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8200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9AB2CD4-5B5D-48E5-B692-8351D49F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2397893-EDD8-4593-807E-2F66761B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10.307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42ABAB0-461F-44F4-B101-0367AE1D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34561E3-F714-4BF1-8E18-11988CAF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9.630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A3F3116-68E0-407D-88B3-808A5185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C9E94A7-5914-45FA-8743-B517E206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9.280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D8A68E7-76BC-4AE3-8035-023351AC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300F29C-7AAD-4007-A22C-0E9C3B13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8.818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36ABD88-855A-4D94-B858-12175D6E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8105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8FC29B2-6567-46EE-95E3-F2F775D5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8200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FiLM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A53C785-03B3-4DCB-9643-8B7F0DE6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4391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123AE76-6040-4226-BE92-A19A7763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4486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065A42D-6EE6-4ABB-AE02-39D31053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A34B85E-8D44-4071-9058-99B09F29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10.622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EBEF400-7150-4133-80AD-49A4A740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11A9F7F-CA33-43B5-914D-454C18B5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9.807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CB66BA76-290C-4195-9F95-FD535488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507894F-BB10-45EA-ACC5-1686EBFA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9.381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066A454-0C47-455D-A8D2-A62D157A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D8C8644-E252-407D-BE51-3975F1F5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8.873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4EF2254-ECA9-4160-9070-9E5BC557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84391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EAD04C8-9589-4707-A201-C0ACB6BC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84486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weighting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F94CF69-59FC-46FF-9167-DF7048CE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0106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Participant-macro mean MAE (mmHg) · seed 20260813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3AA2D43-4B2A-4E7B-9537-BF9AD037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2f9e8563e0947ef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B2B0D1-3B0A-4FCF-A908-FBC9D268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Training Round 2 — Five-Seed Early-Stopping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92AEE1-6B38-4F9F-953B-0ED0823F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13BD4-5CE0-4FD3-BF58-C159AB4B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803B5-1E03-481C-956B-2799FCF0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335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286E0-B9A0-4F31-ACC1-BE94316A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54553-4956-4000-87F8-365624E1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FCBA3-D64B-430E-8B7F-92BF1DAB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5BF478-A8F4-4655-9F9B-5CB993A1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961E8-AA85-487F-B221-2B74AD9C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3ADED-1BCD-4EAA-8463-AECB6969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D7568A-502F-410E-B879-2B63680E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7537D4-557B-4B80-8F41-961F9141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DFEA9-E1FF-4F47-A163-BF3DDDDB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5240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67F656-DF98-4E6A-B9D8-E56A36C3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15335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Change vs Round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3BD7F-1231-48AF-803C-599C6A6D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28B36C-888D-48EE-83CB-E20C0856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621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 Population mean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01F99-48E3-4BF6-A2E5-6BFD7B69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9AA245-4C38-453B-8B76-EC3B0E19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51E96-AF2D-4DAC-8897-6AF1F2A7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3E86FD-17F2-46BF-90D7-A1E49389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A39EBF-911F-4F89-9CC7-226AAF03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143CFD-A28D-451F-8AAB-80ED2667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729D1E-26B0-486E-A427-EF75CCF2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2C1932-B3C0-40AB-83C4-401A6ABE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F59A8-2B11-4622-BA26-47F16A7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526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9C6FAB-CD16-49FE-99FB-716F4B4A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1621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033D1F-ADC0-4AF2-97F7-71B0F48F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FAE6B2-BA0F-47AF-A314-26797182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908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 Last reference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7B5C1-C16E-4C39-BD9A-1A75961F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49C978-0B26-478D-A176-692AAB06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051409-9962-4E78-9023-B2ECA88C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B48557-7BDC-4AF5-A42D-3AAF8F2D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13.825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517032-2EB8-4AE0-8417-77865238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9D8E34-B336-458C-82D4-3CE5DBA4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8DE462-663D-426B-85C3-A0733B22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94D7B7-73DD-495C-B112-80E5EA19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12.733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4DE58D-482F-4ABF-A3CC-31134390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7813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1B70E4-903F-470B-8A27-0021382B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7908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39DC17-1B61-482F-A6CE-4F9D25C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7077BB-217E-43B2-BE03-8488955C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194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 Support mean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5191FFB-5571-426C-9B04-9ED87C7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DD73E4-B770-4EB9-BEA6-1BFF0AAF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26201-516F-406D-BAB6-9183D8B0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F4D80C-435E-43CE-83F4-7BB11F1C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13.570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8426FC-2106-4047-9915-FC44EC3F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8308069-F2E9-4D3F-BBE8-45514D15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12.755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14129D-1E11-4A03-84D9-8BB657E4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B976F4-2823-4469-BA12-F1B14564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11.948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ECE608-226E-4576-A040-7FF47966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4099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B3CE19-91DB-4440-8DAA-64FE8F3E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4194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59BCDA-3BFC-47FF-AEB7-3405875F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998F1E-F4AF-49B1-B544-2285CBDA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481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 Population PPG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B78C9B-6BF7-42A5-8424-A1A1B67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EB51B1-A5F4-4176-AAD9-351BBDD4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78BAF4F-A4B9-4E46-8016-70A5A428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DA3E3E-CBE0-4C19-9E1B-B507258F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F94F4B2-8C7D-43F8-8FCF-B8048773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D65BB49-9470-41F9-8B8C-D56F6B13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B21A050-693D-462F-9E72-D059E633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F159A86-F2A6-4CCD-935B-0EA3DC15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197EAF9-5340-4C28-8A40-B92EE754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0386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2E6F6BD-BF2E-4C63-9DD6-0DD7563C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0481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+0.072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9EC12E7-0087-4902-BD58-CFCEF61A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672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E94C0F0-EB37-4287-BEDF-CBF477BE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6767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 Residual offset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D608AF6-B9DE-45CC-B66F-D6827EEE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E0F5B41-6514-4A28-8B4B-72F6C557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12.327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7F1188F-E267-4B63-AE41-C91F0E23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851DDB-21E3-461D-8555-465BF34C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11.200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17AA92E-57D7-479E-9FB6-AC49605E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9C70743-9A4F-4B2A-9A4E-F82DCA0E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10.624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3DB60A8-1535-4F04-8A96-736D9C0A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E1E043A-F78A-48B5-B92F-15466933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9.951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67E595-614C-4F7A-9978-5BC84C1F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6672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895A47-9B7F-491D-84F7-ABF194A0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6767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+0.020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0B423A0-60A3-4BFD-A6F3-00BEBE61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959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5A678C0-987A-4ED0-9786-28D9EFE6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3054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 Head-only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202841A-AEA7-44DD-BF77-93EB3BFE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BF6BCB2-A249-4E1A-911E-A3FE1CDE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10.963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B0223E8-8EEC-4C90-A03D-5499970F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1CB49A7-F100-4794-8B97-AAC95EC7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10.472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65169FD-0185-4B86-9B93-2A6F0ACA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632B5FA-DA86-4375-86EB-0A220B6D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10.105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FBB2C8A-E5D1-471C-8910-BD56D5E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A7AABF8-CAE7-4800-B3B3-AA0C963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9.588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42AA52C-0771-4EBB-9E37-FE15106B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2959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937965-7353-4359-B41F-72AB4402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054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+0.034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6980B4-D0D0-41DE-BC80-6B454119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245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FB5B6D2-192E-4801-BFC1-8CB9FB51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9340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 Full fine-tune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8DE0C9A-D718-4725-831E-159C520D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50FA284-6C0E-4C3A-99F7-A23A5A2C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15.042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D3494FF-679B-4094-B015-9734498D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63F5296-EA3A-4399-8FDC-6B04217A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13.382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AB4ABF5-96F0-44C4-A48B-B7F54306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C2D87D7-878D-4661-9D7F-2F6C758C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12.520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210177B-12C5-4199-97B6-799F37DC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A5CCFBD-CD11-470C-AC5A-1BC18534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11.842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4DEE14D-021D-4747-A4F6-E5DCE4B1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9245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14E39D0-9329-40C6-906F-DF0D4027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340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895F4AE-6C6E-42A5-B7F1-BA0EC592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73EF45F-5B3A-4E79-B329-4F6310BC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5627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 LoRA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F99378C-9E70-4F2D-A7FC-C034E06F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E9D7F7D-9B87-4AC4-8E9A-44A6E91B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10.499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8D6CA1C-C387-48C6-8C7C-4ABC6EDD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C0A80BF-E830-456D-8203-3E1796A2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10.140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2FDE04A-B923-4C0E-B9C0-91860400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C5D60BA-73C0-4B5A-A614-4D89AD3F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9.944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341BB6D-FD39-4120-A960-597018C5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48D6CAD-3498-4FE8-B740-7BF9D072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9.608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B2F27E4-E9E1-4268-B637-446B3E6C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5532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1FCB9FF-89F5-4F5B-9C00-22D82222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5627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+0.099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1741D4B-2A04-4603-8B45-B47813C3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818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71B3595-3D84-45B6-B1F5-229E7678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1913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6294D48-559A-4F20-BFEC-56727B14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F237551-59A6-43A4-B9FF-25419A47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10.081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9E7B8B2-B859-4B8F-991E-AEA706CF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19B97E8-4828-42DC-A4B9-1E8E6DF6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9.526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F2C83B4-21D5-45DF-AC36-45E2F736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AA6280F-4195-43CF-9635-7D656B8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9.235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CE621DB-147F-47E4-8F0D-BA678CA8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A9DBA31-611C-415E-8AE9-DE8DE161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8.785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0F8F4BA-B25D-44A9-B9D4-8B299B57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1818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AD77EE4A-9A23-496B-B4F5-2E40639B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1913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+0.097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71EC012-AA27-471F-A3AB-CEDC9027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F812CF38-EE4C-4BBF-8204-828C4868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8200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7B26C9B-5313-4321-BFD6-CF58AA74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05D3CD9-E93D-4562-882B-06843018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10.190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6DEC76B-D993-4664-93DA-4B315735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B59AAF0-6F5E-4437-8C08-1447E0ED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9.563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7ADF0FC-EA80-4762-A239-6620E3EB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20EE449-EFEC-4151-A481-1C1BFEBD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9.251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50CE46E-B2B6-453F-B074-747C5CC1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3E791CA-47BA-40FC-8CA5-BA79D04C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8.807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CFB32B2-EEF1-4256-A7ED-686FE952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8105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BB5049F-E46E-4E38-BAE9-EE3E7592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8200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−0.011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08E204B-C6CB-4ADA-BB03-D16D7E8C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4391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6642A78-B670-43C3-B436-217AF3F7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4486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2701025-0F44-43D8-AA76-27AED2C9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9F94AA7-2566-4638-85D6-DF842F35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10.233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4BD1719-4866-4644-840F-71AFB478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6895519-152C-403B-995F-9855A177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9.641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B557DCF-04D5-4AC5-97FC-54DF22BC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BD3F76-7463-448B-A88E-F21FF9F0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9.332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881B1A7-025A-4CE3-AC73-96D3918E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916632DB-820A-45FF-8E72-FC7937AF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8.834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653A6C5-6F16-44BA-9BEB-1FE0120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84391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BBA4A92-9A8D-4DB8-8BB3-2AF4C53E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84486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−0.039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41EF861-8311-4B4C-AD96-FF43A453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0106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Participant-macro mean MAE (mmHg) · mean across 5 seeds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6445D2D-5354-48C6-AFE7-F9278C9B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16a108187164688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88E16-78C9-497D-AD05-EAF1BC96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M0 Performance by Calibration Budget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5677C-A213-4F9A-B2FF-72F664CE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6E311-3129-48A1-A4FC-DA1AC5A4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6EB33-4625-45A5-8744-BCE7ED8A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1927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Calibration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F44B2-8D44-4035-9980-F3B50AD2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6C049D-9B50-4076-9FBD-6C2D3458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Overall MAE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070D-FBAE-417A-8CB0-B66294B2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900B3-AABC-484A-A6C3-6683CD6C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SBP MAE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DCBC9-8196-40E8-95B8-7ADCA58E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47306-AA31-439D-966B-A5835A16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DBP MAE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FBE1C-5249-45EC-B38E-1B97623B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13BCB-8B22-42D8-A83E-007C9ED6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Gain vs B3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FBF37-0D30-417A-B83A-AD84993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CD68B3-9315-43D4-8A7B-E7506232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94CC2-012C-41C8-8D3F-D92569DC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986553-80D7-48FB-9497-495F807C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10.081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5E3D9C-4E28-413F-A0FD-DDEF8EEE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D4C621-A8CE-47A3-9296-12CE4436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01D655-815A-40FA-86FD-88535D16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432356-7ED9-41A1-9494-6B36829B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7.242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118C56-2B4F-43C0-8289-99B2CCBA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ABE79B-96D2-4A63-863A-CAA2F861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1.629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D44FF-9C20-49B3-B59E-5BCD2A81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62451C-B229-4E83-B75F-EC31874E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952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FA0E92-D0DE-4A83-94F7-5A264536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5DD8D8-63B0-411E-A58D-AFC356C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DB7E59-7A9D-40AE-B7CF-4DE52014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8FDA2A-498C-40FF-A7C8-FEEFBE57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12.240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5C86EB-4535-46F9-AB32-FF8D1795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1567B3-7092-43E7-B567-5D3F3F7C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6.812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C95566-9290-4C14-AB17-5E43B8AB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46FEF5-0B65-41A5-A1BC-B335CF92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2.184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CB05AD-17FB-4D8D-BA9C-C9507B7F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52708B-B440-4DA8-94F0-AEEF0FFE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C65BA0-D72F-4237-842B-F626C3F5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DF59F0-FB62-416C-8F36-52BAD959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5217C1-9119-4D83-9B20-8EFC8E79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72EBD3-6AE8-428B-A13D-00E47863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11.894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18A1FF-AAC2-42BE-B281-2819AB2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8EAED8-5C1C-40D5-94C0-D0E9A5DA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6.576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063530-0676-429F-90C5-C7AD2669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5D37F4-0C8F-4BBC-A5D9-7B52BE9B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2.475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9AC044-DDD4-4750-AB2D-6D1E6A2F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F4BAD2-B1E1-4322-83BD-D28A9DD0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977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137CB9-7005-4CFE-B4CD-6F6FF3B1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9BDA20-8828-476C-8073-59C5DEA3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8.785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FC2CB8-A5EF-4F25-862E-E4A0E4F5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7821DE4-1D05-4EDA-932A-5645E5D6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11.318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F00CD9-0BAE-4D24-8720-7DF1D9AF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674BB9-DF9D-42AF-85EB-924FF6C1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6.253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1BA413A-18FF-45E7-8665-C2BEBB06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2EB7A37-2FDA-4521-92F2-FE71B847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2.925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81BDA6B-27AB-4095-B11F-361D3EF6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27BB46-5668-4ABD-97C0-133DC3C6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BE6E3B-D5EE-4FA7-B22B-AF855883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9.407 ± 0.104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A4F1873-8EB0-4F0D-BD30-9FB278BA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Four-K mean MAE across 5 seeds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30AE9AD-8022-47E3-955A-F3D63089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07CC5DD-D528-43B8-BE84-B63539E7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756FC02-0A90-44D0-A921-0A98F797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0.046 mmHg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BD85485-B71F-49F6-9EED-A4D1917B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advantage over M1 (four-K mean)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EA9621E-08D4-4D8C-909D-9B547687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97D8A01-30C2-4734-97A0-735AA903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BD5F15D-D846-4A16-A9D3-E7945A9A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0.103 mmHg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37779-FC50-427C-BC24-9EB498F8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advantage over M2 (four-K mean)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57F4080-450D-4191-84EE-5B4B2744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M0 remains the simplest leading model; small M0–M1/M2 gaps are not claimed as decisive.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b5e1269850b4217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F335D-66A9-433A-95A2-546D41E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Historical Calibration-Free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53E02-2194-4A54-A1DC-BBE32CDB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F6118-B74A-4226-8F73-87C469C9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0DD0D-0DF0-4FA6-9988-AE576F1E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38E85-8C5C-423B-B7DC-86A86A7E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037F2E-571F-446B-805F-A1BF1210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6215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Dataset /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3F6AE-D031-44FE-8EE2-951D10C6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526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FCC1A0-5A4E-494E-96EE-A81CC075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9621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SBP MAE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70718E-8A76-4A0A-989A-5DDC168A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526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366EAB-6772-47B6-8518-F455AC29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19621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DBP MAE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6DD65-92AD-41F0-BE57-B4EB34CF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195262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92D68-A952-45CE-B162-CA9F09E2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196215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B4274-FB73-4C70-851B-CAE844BC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69D409-9808-4FC5-9CEE-DC878F0E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Historical XResNet-50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D98BBF-0153-4C49-8279-3DFA46F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9087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BE051-9335-433F-9DE6-B44F53B8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0040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VitalDB; calibration-free; window-level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A13AC-3276-4ABD-A5D1-D7A36B79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D4E3BA-BE23-4272-AF93-8810A6C7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20040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12.492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5C35A-3B73-4D51-86F6-80F745BA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9087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AFBCCF-0302-43B8-8300-B92540F9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320040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8.059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D289CB-63E1-46DE-9D4B-C965C146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319087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CB7871-4F67-4602-95C2-7623A14D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320040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Prior 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A2DDDC-964F-46C7-AB60-948C3B01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D51C86-EEDF-4353-92E6-DBA609F2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Current M0 (K=5)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D0A50F-542F-4AD3-8C0F-E80141FD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769A66-DBAE-4CA2-BF95-5D909794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3865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PulseDB; few-shot; participant-macro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5F8A8C-45D2-4540-A80E-0769D035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291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275689-7360-4480-9C42-CEA4FE2F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386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11.318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35738F-B27A-4D94-B85A-1340C002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291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81C90C-9AD5-428E-902A-9706C4EA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44386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6.253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215486-8DD1-4343-8E6B-8173618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442912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370D54-0314-43E0-A485-4B5B3637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443865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Personalized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D6BE6A-F08E-4DC8-8561-9EBE28D7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0"/>
            <a:ext cx="14859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5CEE9D-23BC-481B-BE33-18961E5C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0"/>
            <a:ext cx="95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300"/>
          </a:solidFill>
          <a:ln xmlns:a="http://schemas.openxmlformats.org/drawingml/2006/main" w="9525">
            <a:solidFill>
              <a:srgbClr val="A863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0419E8-E422-4293-90AD-9CD0E8B9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457950"/>
            <a:ext cx="1440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Not an apples-to-apples comparison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98097D-3352-4E67-9480-F161FCA2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991350"/>
            <a:ext cx="14401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The dataset subset, split, metric aggregation, and calibration protocol differ. The historical result is shown only to motivate the transition from calibration-free to personalized prediction.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27C0A3-2792-4695-A298-7640D156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53dc2852b764c45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E538BE-4F4D-4F81-A2DB-03FE1C42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Worst 20% Subjects Show Calibration Drift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AF7DF-B7E6-432C-885B-412BF9B9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55155-CB1E-40FB-AA66-815A7B1C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811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80D61-74A4-44FA-BDEC-55DA39AD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3906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Indicator (K=5)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8577E-DE24-4D37-A9B9-A29602EF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3811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FCD05-AED1-4296-A7EC-6EC1F7F9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3906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Remaining 80%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CFDCD-39B1-4DD1-A865-E718BC07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3811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45A36B-C696-4AF0-AA30-3B2A2F54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3906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Worst 20%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285419-3917-4246-8EF9-FB108936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13811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C62B5-52BD-4571-8918-D3A178E9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13906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pattern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382A0-8FA9-47AB-ABFA-678F88E9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240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33C5CB-54C2-41EA-8ECB-BAA999C4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336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Participant mean MAE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CFF03D-E015-48CF-9676-1B810A7E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1240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BCFBC3-F308-4B83-BEDA-E5E83F85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336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6.935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163809-FA4C-4816-ACD2-310A0EB2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240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504CA-C67C-4EF3-AC64-8E4179F8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336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15.662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1AD6E5-E648-43CD-9C74-29563465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21240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F237C0-5939-4B0A-98F9-C8F764C9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21336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2.26× higher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5A5D0A-DE71-4DA3-87F0-D1722707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670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968AAD-D01E-4772-A528-1B68F18B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8765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Support→query SBP change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41E225-EB13-4973-9DDB-678D268F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8670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405E0E-9B49-429C-A7A2-353D82CD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8765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13.704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522D5A-89C3-4E02-87FF-220D9BB4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8670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8521BE-9AA4-4940-883C-EAA31A17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8765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22.660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1427A0-1139-4E55-BFC9-6A81DE6D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28670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14A5FE-1444-4643-9BF7-4F9AB240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28765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+65%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90163B-C85F-4832-9BA5-3336606C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099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DE2E2B-9D11-4696-9D3C-06159301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6195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Support→query DBP change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CC15E5-1D06-4492-A47A-D6A5BA84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6099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DB8C90-D308-49FC-BC12-3394C0DE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6195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7.288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5D0382-7567-4192-9829-9D03B630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6099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52D9EA-D8B7-4803-8A2B-7E3A5366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6195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12.791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DE409A-31E8-4947-A549-1A91AC62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36099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ED9C10-8F02-476C-8886-5A7E39D1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36195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+76%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89566C-1022-4A21-AC16-2AB03F38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529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177167-3E83-4B2F-81CB-E5ADB2E8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3624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Within-subject SBP / DBP SD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DA54CE-4E53-4B17-A392-9B24DD9F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529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6687C0-1BD2-4935-9437-87AF2F2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3624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12.056 / 6.679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BDE9DD-EB16-46A5-A830-4DF5113F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529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7BDA0D-0B16-44D2-A1B8-99E34B2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3624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16.011 / 9.426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6934A39-D209-4050-AFFA-0C909EED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43529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E6169A-3D6A-4FD2-A6F3-E3399CA1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43624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+33% / +41%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3A5405-6063-4407-B41E-DDFD629A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958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539C79-7000-4160-A047-B0959059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1054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Query outside support BP range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B285ED-2862-44BE-A284-139696F3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0958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3D7226A-95A7-4BA6-8114-991C0E96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054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55.9% / 54.4%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FA2C5F-3B5B-4633-BBB8-B0028509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958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0FB929-B482-42DC-A9BA-BDCC2E26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1054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70.4% / 69.4%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801D946-9C94-4028-8E56-C40F5D29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0958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9D270F6-3D11-48A8-899B-EA643E6A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51054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More extrapolation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DD34C03-79DF-4EA8-973B-0A105A66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388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C40FD5B-A21E-46B3-A610-0222AB6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8483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Mean event index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228EE83-E7F8-48FF-A2F0-BC873C00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8388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F7F9FF1-F950-49BF-AB3C-4804D50B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483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72.5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C5D52A-BCE8-48B7-B29C-1C642244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83882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3DEA2B-3E36-4E18-9D44-A1A43B33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84835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108.7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CC1877F-9709-4990-B477-D432714D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83882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0520748-1C0D-4338-8878-3C097504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584835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+50% later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4A74323-6931-4DC0-812A-50CC80EC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817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A2EF354-B202-4CE1-BBA5-8FC844BE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5913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Filtered-PPG SD / mean age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B02E956-82C6-4694-AF33-FD0DAD84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65817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89F689F-4268-4933-B13D-D38A2176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65913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0.2753 / 61.8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C03834F-1438-4B30-80B2-FCA3BC7A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581775"/>
            <a:ext cx="3238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8F1FA4F-1C6B-4C51-A18D-1E1CD4BD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91300"/>
            <a:ext cx="320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0.2748 / 63.1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9BBC803-C127-485C-9F8F-378ED722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6581775"/>
            <a:ext cx="561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42454CF-9F6A-433A-96DC-5E795B04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6591300"/>
            <a:ext cx="5581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Nearly unchanged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35F247-63F2-472F-B484-5FF52C4D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7762875"/>
            <a:ext cx="6858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95C8FDB-11C7-4E71-812C-7C9A29C1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7762875"/>
            <a:ext cx="95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EA7B68D-FFF2-4FFA-8FD6-35C6AAC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7934325"/>
            <a:ext cx="640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26.6% MIMIC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BE15EEA-8338-4416-998B-56C62F4F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8467725"/>
            <a:ext cx="640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Worst-tail participant rate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FC420C3-9303-4C01-961A-1ED20884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762875"/>
            <a:ext cx="6858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41D065-C82D-405E-9789-D0D45898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762875"/>
            <a:ext cx="95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99CB5DE-1165-4F32-BE7C-2F7F10B0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7934325"/>
            <a:ext cx="6400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14.7% VitalDB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0FFA59D-7599-4843-AD9E-9A6384CA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8467725"/>
            <a:ext cx="6400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Worst-tail participant rate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351D970-5F5E-476B-866D-14E7FEE2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140 / 697 participants · threshold ≥ 11.751 mmHg · diagnostic association, not proven causality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91454699b8b43b5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1CD9F-29FE-45EC-A519-179F7C71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6 Tests One Change at a 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D452A-5CDA-49F2-81E0-69BE3D36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FF6BE-19BE-4536-BCCE-F9B19F60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FE1AF-039D-4A77-8F11-B633BC5E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4382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446E9-EB31-484E-AFD6-B7228202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287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0594D-5506-47C7-835C-93F70A7C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4382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Only change from M0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E7980-CB8B-4ABA-BC4F-05113135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4287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FB809-00AC-4E15-B888-2189F5C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4382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32E2E-2098-4DFD-8214-C98E3BAD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14287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2E282-80E5-42AA-B8BF-6FE38841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14382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Job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8CB93-3649-4F28-B528-04514695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93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4175C-CF29-439E-8C03-C1C1E7E0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4288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Robust loss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B3837-0DE5-479B-9360-5CB7B21A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193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41D99-B79A-4353-B87A-A7190F2B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4288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Huber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A0DE02-C479-424A-ACDB-AB9949E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4193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B2EAF7-9623-4B11-99CE-BCC4FB21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4288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Reduce large-residual influence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31E082-8634-4E61-9ACD-0BF26515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2419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C4A0EF-5551-4605-A2DF-8226D0A4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24288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819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DF1155-E918-4296-9E1A-F7E5FBAE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91B8B7-7C92-4FA8-9C13-5F2A65A3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194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BP-change sampling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9B56B0-800F-48D0-9980-D78030F9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099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24266A-5005-43B7-B782-6BCF7848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194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Meta-train sampler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AAC7F9-E12A-468A-979D-CD2CF267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099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709A0E-36EE-444B-802D-0A5AEE51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4194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Learn calibration-drift episodes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ECC7A9-CEF0-46D4-AFFC-4655C1B9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34099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238FB2-68BF-4BE9-B358-2616F83D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34194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822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49D4FD-A995-4466-A1A4-486555D9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005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961E3D-6082-45D2-ADCD-621BD958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4100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Robust anchor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49464E-D27C-4AD3-A883-6BBF76FB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005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F3E9D5-1277-4F78-BD6E-8D5D3367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4100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Median residual anchor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8BDF0B-2AA9-4DE0-9238-C963F4CF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4005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226FD6-A6FB-4215-884B-C094309A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4100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Resist atypical cuff anchors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56009A-248C-4764-8FE8-F6F11664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44005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E590A4-79CD-4A49-95B8-777BA780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44100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823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F0DC6B-D9E4-4FC7-B51E-479DB079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911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212B19-3388-47A2-A8A9-5892BB45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006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PPG quality gate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947A95-8C91-4DCF-95B8-F69E54D6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911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8DD55F-D517-49DE-8591-8D2BEFA3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006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PPG-only gate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65263F-D216-4691-B0D4-0159C7E7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3911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470000-A6D7-43FB-990D-5AC7BE12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4006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Attenuate unreliable personalization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763DA8-7A93-4C15-BC1F-9A578C69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53911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8A186C-E1C3-4DF0-9AB2-ED02828B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54006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824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0890F5-DD84-4373-9D71-F5A3F3D5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81750"/>
            <a:ext cx="390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AF23E7-FEFF-47CE-BD4B-5C7352FF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91275"/>
            <a:ext cx="3867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Age + sex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881D74-1484-465E-85B5-7767597D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3817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64FF19-B8C1-4C75-91A8-9CCEB973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6391275"/>
            <a:ext cx="4724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Clean demographic vector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348113-082F-4F21-A775-4B23EAD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381750"/>
            <a:ext cx="704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251482D-7F7D-4014-B37A-8592B2C7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6391275"/>
            <a:ext cx="7010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Add subject context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CD748F-5680-436A-9D3C-9F2E0370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25" y="63817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4ACD75-867F-4BC9-B7B7-9143243D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9175" y="6391275"/>
            <a:ext cx="19621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825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347728-F714-4FE1-8721-8BA078E5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7810500"/>
            <a:ext cx="16668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CF5F6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14E1E4-19BC-4F56-8758-A31948F0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7981950"/>
            <a:ext cx="1590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Protocol comparator: fixed-first support (job 818) · Single seed now · Multi-seed / multi-fold only after a clear gain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74FF5DC-71AD-446D-890F-D6F557BA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Age uses participant median; invalid age is retained with a mask; normalization uses meta-train only.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2026-08-17T10:40:41.2830000Z</dcterms:created>
  <dcterms:modified xsi:type="dcterms:W3CDTF">2026-08-17T10:40:41.2830000Z</dcterms:modified>
</coreProperties>
</file>