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08a5317ab44d71" /><Relationship Type="http://schemas.openxmlformats.org/officeDocument/2006/relationships/extended-properties" Target="/docProps/app.xml" Id="R2f1eb30abbe644ba" /><Relationship Type="http://schemas.openxmlformats.org/officeDocument/2006/relationships/officeDocument" Target="/ppt/presentation.xml" Id="R7e7ed311ec75488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1da70b61835443e"/>
  </p:sldMasterIdLst>
  <p:notesMasterIdLst>
    <p:notesMasterId xmlns:r="http://schemas.openxmlformats.org/officeDocument/2006/relationships" r:id="R5938b3494d854050"/>
  </p:notesMasterIdLst>
  <p:sldIdLst>
    <p:sldId xmlns:r="http://schemas.openxmlformats.org/officeDocument/2006/relationships" id="256" r:id="R0753763648c544d4"/>
    <p:sldId xmlns:r="http://schemas.openxmlformats.org/officeDocument/2006/relationships" id="257" r:id="Rf55ab19ac9f64fce"/>
    <p:sldId xmlns:r="http://schemas.openxmlformats.org/officeDocument/2006/relationships" id="258" r:id="R0d3a7291933b46d3"/>
    <p:sldId xmlns:r="http://schemas.openxmlformats.org/officeDocument/2006/relationships" id="259" r:id="R2efbeea64cef4ad4"/>
    <p:sldId xmlns:r="http://schemas.openxmlformats.org/officeDocument/2006/relationships" id="260" r:id="Rb192824405a14491"/>
    <p:sldId xmlns:r="http://schemas.openxmlformats.org/officeDocument/2006/relationships" id="261" r:id="R8ab4a926527a4de7"/>
    <p:sldId xmlns:r="http://schemas.openxmlformats.org/officeDocument/2006/relationships" id="262" r:id="R28523149a36e45aa"/>
    <p:sldId xmlns:r="http://schemas.openxmlformats.org/officeDocument/2006/relationships" id="263" r:id="Rdcbeeffa43b249df"/>
    <p:sldId xmlns:r="http://schemas.openxmlformats.org/officeDocument/2006/relationships" id="264" r:id="Rbb52ab4d72754578"/>
  </p:sldIdLst>
  <p:sldSz cx="18288000" cy="10287000"/>
  <p:notesSz cx="6858000" cy="9144000"/>
  <p:embeddedFontLst>
    <p:embeddedFont>
      <p:font typeface="Belleza"/>
      <p:regular xmlns:r="http://schemas.openxmlformats.org/officeDocument/2006/relationships" r:id="Rfdc6a11cf1d04bdc"/>
    </p:embeddedFont>
    <p:embeddedFont>
      <p:font typeface="Times New Roman"/>
      <p:regular xmlns:r="http://schemas.openxmlformats.org/officeDocument/2006/relationships" r:id="R967d355eb46f4da5"/>
    </p:embeddedFont>
    <p:embeddedFont>
      <p:font typeface="Times New Roman Bold"/>
      <p:regular xmlns:r="http://schemas.openxmlformats.org/officeDocument/2006/relationships" r:id="R304e2d26168d4bf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e5bd078fb04acf" /><Relationship Type="http://schemas.openxmlformats.org/officeDocument/2006/relationships/slideMaster" Target="/ppt/slideMasters/slideMaster1.xml" Id="R71da70b61835443e" /><Relationship Type="http://schemas.openxmlformats.org/officeDocument/2006/relationships/notesMaster" Target="/ppt/notesMasters/notesMaster1.xml" Id="R5938b3494d854050" /><Relationship Type="http://schemas.openxmlformats.org/officeDocument/2006/relationships/presProps" Target="/ppt/presProps.xml" Id="Ra36c709ded7b462d" /><Relationship Type="http://schemas.openxmlformats.org/officeDocument/2006/relationships/viewProps" Target="/ppt/viewProps.xml" Id="Re9845c1d56f34709" /><Relationship Type="http://schemas.openxmlformats.org/officeDocument/2006/relationships/tableStyles" Target="/ppt/tableStyles.xml" Id="R65d80aaef9bb4744" /><Relationship Type="http://schemas.openxmlformats.org/officeDocument/2006/relationships/font" Target="/ppt/fonts/font.dat" Id="Rfdc6a11cf1d04bdc" /><Relationship Type="http://schemas.openxmlformats.org/officeDocument/2006/relationships/font" Target="/ppt/fonts/font2.dat" Id="R967d355eb46f4da5" /><Relationship Type="http://schemas.openxmlformats.org/officeDocument/2006/relationships/font" Target="/ppt/fonts/font3.dat" Id="R304e2d26168d4bf9" /><Relationship Type="http://schemas.openxmlformats.org/officeDocument/2006/relationships/slide" Target="/ppt/slides/slide1.xml" Id="R0753763648c544d4" /><Relationship Type="http://schemas.openxmlformats.org/officeDocument/2006/relationships/slide" Target="/ppt/slides/slide2.xml" Id="Rf55ab19ac9f64fce" /><Relationship Type="http://schemas.openxmlformats.org/officeDocument/2006/relationships/slide" Target="/ppt/slides/slide3.xml" Id="R0d3a7291933b46d3" /><Relationship Type="http://schemas.openxmlformats.org/officeDocument/2006/relationships/slide" Target="/ppt/slides/slide4.xml" Id="R2efbeea64cef4ad4" /><Relationship Type="http://schemas.openxmlformats.org/officeDocument/2006/relationships/slide" Target="/ppt/slides/slide5.xml" Id="Rb192824405a14491" /><Relationship Type="http://schemas.openxmlformats.org/officeDocument/2006/relationships/slide" Target="/ppt/slides/slide6.xml" Id="R8ab4a926527a4de7" /><Relationship Type="http://schemas.openxmlformats.org/officeDocument/2006/relationships/slide" Target="/ppt/slides/slide7.xml" Id="R28523149a36e45aa" /><Relationship Type="http://schemas.openxmlformats.org/officeDocument/2006/relationships/slide" Target="/ppt/slides/slide8.xml" Id="Rdcbeeffa43b249df" /><Relationship Type="http://schemas.openxmlformats.org/officeDocument/2006/relationships/slide" Target="/ppt/slides/slide9.xml" Id="Rbb52ab4d727545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36e1e6cf0241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d38333c2d3446f" /><Relationship Type="http://schemas.openxmlformats.org/officeDocument/2006/relationships/notesMaster" Target="/ppt/notesMasters/notesMaster1.xml" Id="Rc74e73d9e8544a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01f8357d274298" /><Relationship Type="http://schemas.openxmlformats.org/officeDocument/2006/relationships/notesMaster" Target="/ppt/notesMasters/notesMaster1.xml" Id="Rbe4ded1a49ba44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3a8555c05343c9" /><Relationship Type="http://schemas.openxmlformats.org/officeDocument/2006/relationships/notesMaster" Target="/ppt/notesMasters/notesMaster1.xml" Id="R91d2567deb8b45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d83be4496749cc" /><Relationship Type="http://schemas.openxmlformats.org/officeDocument/2006/relationships/notesMaster" Target="/ppt/notesMasters/notesMaster1.xml" Id="Rbd0a5eafad3843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cda93888b347c4" /><Relationship Type="http://schemas.openxmlformats.org/officeDocument/2006/relationships/notesMaster" Target="/ppt/notesMasters/notesMaster1.xml" Id="R72ec4f8021c448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314a0e206b4562" /><Relationship Type="http://schemas.openxmlformats.org/officeDocument/2006/relationships/notesMaster" Target="/ppt/notesMasters/notesMaster1.xml" Id="R19652b5dc4a940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d812c9f1ef4055" /><Relationship Type="http://schemas.openxmlformats.org/officeDocument/2006/relationships/notesMaster" Target="/ppt/notesMasters/notesMaster1.xml" Id="Rcf08c55aa80a41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e7e96e932f44d0" /><Relationship Type="http://schemas.openxmlformats.org/officeDocument/2006/relationships/notesMaster" Target="/ppt/notesMasters/notesMaster1.xml" Id="R11b540c869e341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c2f74154414dcc" /><Relationship Type="http://schemas.openxmlformats.org/officeDocument/2006/relationships/notesMaster" Target="/ppt/notesMasters/notesMaster1.xml" Id="R25cac669da9f45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progress report; no external claims on this slide.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C:\Research\Calibration PPG BP\docs\STATUS.md</a:t>
            </a:r>
            <a:endParaRPr/>
          </a:p>
          <a:p xmlns:a="http://schemas.openxmlformats.org/drawingml/2006/main">
            <a:r>
              <a:t>- C:\Research\Calibration PPG BP\docs\METHODS.md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The locked meta-test is not accessed during model selection.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C:\Research\Calibration PPG BP\docs\METHODS.md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C:\Research\Calibration PPG BP\docs\RESULTS_PHASE5.md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C:\Research\Calibration PPG BP\docs\RESULTS_PHASE5_REPEAT5.md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C:\Research\Calibration PPG BP\docs\RESULTS_PHASE5_REPEAT5.md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Prior VitalDB calibration-free XResNet-50 experiment summary</a:t>
            </a:r>
            <a:endParaRPr/>
          </a:p>
          <a:p xmlns:a="http://schemas.openxmlformats.org/drawingml/2006/main">
            <a:r>
              <a:t>- C:\Research\Calibration PPG BP\docs\RESULTS_PHASE5_REPEAT5.md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Do not interpret the numeric difference as a controlled head-to-head gain.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C:\Research\Calibration PPG BP\docs\PHASE6_HIGH_ERROR_ANALYSIS.md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The worst tail is defined using observed meta-validation error and is therefore oracle-only. PPG SD is an amplitude proxy, not a validated signal-quality index.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C:\Research\Calibration PPG BP\docs\PHASE6_EXPLORATION.md</a:t>
            </a:r>
            <a:endParaRPr/>
          </a:p>
          <a:p xmlns:a="http://schemas.openxmlformats.org/drawingml/2006/main">
            <a:r>
              <a:t>- C:\Research\Calibration PPG BP\docs\PHASE6_HIGH_ERROR_ANALYSIS.md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Jobs 819 and 822–825 are isolated single-factor candidates. Fixed-first job 818 is a single-seed protocol ablation, not a final result. Locked meta-test remains untouched.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b70a623204d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119375d6d41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af07892e942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514a49e4148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384dff20142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be27a6ff746d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daf71311d413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fc7f51fb34a2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6b3dd204743a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749d9ab7b486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4ef6fd515497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788374-A82D-4519-A987-FD61D80D3B8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B259AA7-A0F7-45F7-8A15-67CA921785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FE1CFD-20ED-42F1-8A76-0A9B1850CD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64685A-1971-4F67-809A-25373C3BEF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AC354D-2F0A-4EE0-8D51-69C94E1591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E184E08-076F-4F07-B91D-8698A9445E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7620915-9A24-4451-84DC-8FB633F0BB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5AE584-7AA4-45BF-BFA8-9DBFBB9FCE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2EE2FE-BCB7-4808-ADB2-01450F2F93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35FE82-EB72-4C13-84FF-FFE289BF60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A29ABA-2BC9-4693-B918-71AC63706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ECAE3D2-4FB4-4097-A7A9-BB2D05849C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6A2D6D-FABA-4619-B07F-271555CB12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7EE686-FA94-49A3-BF1E-02C0B76980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792660-1674-4FBE-9A39-2632125B7A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C7D5AF-6B9B-447B-9BC6-CE7AB04F4F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007A2D-72A7-48A3-B176-CC1C9D967F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6F490CC-8868-4060-AD54-D67F64945C5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D0945FF-1B48-4BB9-813B-B634A5498D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1406535-E7E5-4CE0-9A92-088A29CA52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9322F36-3ABF-477F-9CA5-6B644CF0E7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3F7903-53A5-4ADE-B5F3-3ED515FE4F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7E4B01-E66E-4D9B-B30E-B3A18373E4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D05883E-6FBC-4527-A4AF-4176111B494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A47CB0-D18F-4AE3-9C9F-CC0BFB93FA1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16B6848-0F1D-4640-8EFF-FD299E38E5A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9B6799E-8FD3-4D96-8D20-13D3B65185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8EA73AE-A52C-4785-9739-094D2AF74F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1B75C33-1062-4198-958D-6A82C78EFD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2FFB17-DDE9-4120-B75D-A7A01748A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FEA7C86-7109-47B5-94E2-143C42EA93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B2120F0-ACEE-4073-B5C5-944454EB14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EA26C21-121F-4E57-9737-69CE3B5E33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304EEB7-8F7C-4464-84B8-9AFE9F248A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6DE5D14-8CFB-4119-AF9A-BCA0FC4DDA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9DEB7DC-4DD9-43D1-84E2-02EE6FAD27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51BB38-883A-4C23-80BA-342A39E45B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9859BB-454B-4846-994B-45FE7322DF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217A473-3987-4D15-A601-3A0F72D042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EE1957A-E402-41F9-BB36-43F45E9452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F2D7783-BCB5-4F6D-B52A-F99B79BD91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7420F70-8DB8-43AA-96ED-C985B9B1E5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A48CF8-8209-4727-B1C4-D0AD90F2C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C836B5F-B63D-4EBF-AB34-95B9C0E3ECE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853615C-7911-4801-85CA-4FFB1E80E4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778EC95-5CB3-451D-AD23-D814E994A8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3EDB2A-EFD5-477C-BB05-647FB31897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4E8366C-5063-4A8D-8BD7-D32A259997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305259-C476-4050-92D1-943BABFE4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BAC3B0-F6B1-4BB2-81D5-25A3FE436D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FA02B3-41CF-4080-9EF1-13F3FDEF3E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A2F309-EDB7-4557-8AB2-04F6BD5AF5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D54770-B84D-419F-B6E7-5C1915902F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046719D-DD8C-4EC0-98E5-2B9F212F2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D0A846-643A-4B52-B35F-1A4FF010FA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C32A34-A3BD-4A47-B38D-E033A06800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71023A-AF7A-4EF4-988E-4915486919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60F94E-DE8B-4B57-80C4-9D99D4B56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ce1dd9f38443e7" /><Relationship Type="http://schemas.openxmlformats.org/officeDocument/2006/relationships/slideLayout" Target="/ppt/slideLayouts/slideLayout1.xml" Id="R069cbf31a0d34bec" /><Relationship Type="http://schemas.openxmlformats.org/officeDocument/2006/relationships/slideLayout" Target="/ppt/slideLayouts/slideLayout2.xml" Id="R8167daf27ec645c5" /><Relationship Type="http://schemas.openxmlformats.org/officeDocument/2006/relationships/slideLayout" Target="/ppt/slideLayouts/slideLayout3.xml" Id="Re5d6323cf01646e3" /><Relationship Type="http://schemas.openxmlformats.org/officeDocument/2006/relationships/slideLayout" Target="/ppt/slideLayouts/slideLayout4.xml" Id="Ree0bebf526c5436e" /><Relationship Type="http://schemas.openxmlformats.org/officeDocument/2006/relationships/slideLayout" Target="/ppt/slideLayouts/slideLayout5.xml" Id="Rebddcec406954781" /><Relationship Type="http://schemas.openxmlformats.org/officeDocument/2006/relationships/slideLayout" Target="/ppt/slideLayouts/slideLayout6.xml" Id="Rcf37dbdce8154058" /><Relationship Type="http://schemas.openxmlformats.org/officeDocument/2006/relationships/slideLayout" Target="/ppt/slideLayouts/slideLayout7.xml" Id="R827f7ea86ce74082" /><Relationship Type="http://schemas.openxmlformats.org/officeDocument/2006/relationships/slideLayout" Target="/ppt/slideLayouts/slideLayout8.xml" Id="R0b5689db798a42c3" /><Relationship Type="http://schemas.openxmlformats.org/officeDocument/2006/relationships/slideLayout" Target="/ppt/slideLayouts/slideLayout9.xml" Id="Rf203982607ba41b1" /><Relationship Type="http://schemas.openxmlformats.org/officeDocument/2006/relationships/slideLayout" Target="/ppt/slideLayouts/slideLayout10.xml" Id="Rd689aa1fff1c476e" /><Relationship Type="http://schemas.openxmlformats.org/officeDocument/2006/relationships/slideLayout" Target="/ppt/slideLayouts/slideLayout11.xml" Id="Ra80951a2aec84d5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6594B10-A7A3-4971-ADB4-615E90F790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79E10D-4D17-4241-B0A6-E3350BAFC5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FBC9A4-701F-4973-8BA2-44E245192C1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2D9F04-9EEA-4EB2-B2F8-ABA50FDF1C3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B3054D-2C06-4027-AA33-5FB2168B8F8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9cbf31a0d34bec"/>
    <p:sldLayoutId xmlns:r="http://schemas.openxmlformats.org/officeDocument/2006/relationships" id="2147483650" r:id="R8167daf27ec645c5"/>
    <p:sldLayoutId xmlns:r="http://schemas.openxmlformats.org/officeDocument/2006/relationships" id="2147483651" r:id="Re5d6323cf01646e3"/>
    <p:sldLayoutId xmlns:r="http://schemas.openxmlformats.org/officeDocument/2006/relationships" id="2147483652" r:id="Ree0bebf526c5436e"/>
    <p:sldLayoutId xmlns:r="http://schemas.openxmlformats.org/officeDocument/2006/relationships" id="2147483653" r:id="Rebddcec406954781"/>
    <p:sldLayoutId xmlns:r="http://schemas.openxmlformats.org/officeDocument/2006/relationships" id="2147483654" r:id="Rcf37dbdce8154058"/>
    <p:sldLayoutId xmlns:r="http://schemas.openxmlformats.org/officeDocument/2006/relationships" id="2147483655" r:id="R827f7ea86ce74082"/>
    <p:sldLayoutId xmlns:r="http://schemas.openxmlformats.org/officeDocument/2006/relationships" id="2147483656" r:id="R0b5689db798a42c3"/>
    <p:sldLayoutId xmlns:r="http://schemas.openxmlformats.org/officeDocument/2006/relationships" id="2147483657" r:id="Rf203982607ba41b1"/>
    <p:sldLayoutId xmlns:r="http://schemas.openxmlformats.org/officeDocument/2006/relationships" id="2147483658" r:id="Rd689aa1fff1c476e"/>
    <p:sldLayoutId xmlns:r="http://schemas.openxmlformats.org/officeDocument/2006/relationships" id="2147483659" r:id="Ra80951a2aec84d51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1a755dce844257" /><Relationship Type="http://schemas.openxmlformats.org/officeDocument/2006/relationships/image" Target="/ppt/media/image.png" Id="Re538bfc553c140ef" /><Relationship Type="http://schemas.openxmlformats.org/officeDocument/2006/relationships/notesSlide" Target="/ppt/notesSlides/notesSlide1.xml" Id="Rd052069acfcb4a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deb6bdad5b4e99" /><Relationship Type="http://schemas.openxmlformats.org/officeDocument/2006/relationships/image" Target="/ppt/media/image2.png" Id="Rb20544b3b7034403" /><Relationship Type="http://schemas.openxmlformats.org/officeDocument/2006/relationships/notesSlide" Target="/ppt/notesSlides/notesSlide2.xml" Id="R72aaed697e124f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c56d3943b64f56" /><Relationship Type="http://schemas.openxmlformats.org/officeDocument/2006/relationships/image" Target="/ppt/media/image2.png" Id="R435e899dfd3942c2" /><Relationship Type="http://schemas.openxmlformats.org/officeDocument/2006/relationships/notesSlide" Target="/ppt/notesSlides/notesSlide3.xml" Id="Rd22eccb375154b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3d8252bd2f4a52" /><Relationship Type="http://schemas.openxmlformats.org/officeDocument/2006/relationships/image" Target="/ppt/media/image2.png" Id="R5b91cea5c1f14faf" /><Relationship Type="http://schemas.openxmlformats.org/officeDocument/2006/relationships/notesSlide" Target="/ppt/notesSlides/notesSlide4.xml" Id="R92ad71ed5f224f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b51c37318b4280" /><Relationship Type="http://schemas.openxmlformats.org/officeDocument/2006/relationships/image" Target="/ppt/media/image2.png" Id="R27122b74ab7d4413" /><Relationship Type="http://schemas.openxmlformats.org/officeDocument/2006/relationships/notesSlide" Target="/ppt/notesSlides/notesSlide5.xml" Id="Re8656eec45d24c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e430bfe0104985" /><Relationship Type="http://schemas.openxmlformats.org/officeDocument/2006/relationships/image" Target="/ppt/media/image2.png" Id="Rada6ceb9e2514540" /><Relationship Type="http://schemas.openxmlformats.org/officeDocument/2006/relationships/notesSlide" Target="/ppt/notesSlides/notesSlide6.xml" Id="R194e597feb9c4a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5f1f931acf489e" /><Relationship Type="http://schemas.openxmlformats.org/officeDocument/2006/relationships/image" Target="/ppt/media/image2.png" Id="R68f0116223e54527" /><Relationship Type="http://schemas.openxmlformats.org/officeDocument/2006/relationships/notesSlide" Target="/ppt/notesSlides/notesSlide7.xml" Id="Rc3625a00515a4b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6450dcf278400c" /><Relationship Type="http://schemas.openxmlformats.org/officeDocument/2006/relationships/image" Target="/ppt/media/image2.png" Id="R927782874fa44839" /><Relationship Type="http://schemas.openxmlformats.org/officeDocument/2006/relationships/notesSlide" Target="/ppt/notesSlides/notesSlide8.xml" Id="Ra27b811f09a14d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66818dcfd44460" /><Relationship Type="http://schemas.openxmlformats.org/officeDocument/2006/relationships/image" Target="/ppt/media/image2.png" Id="Rd4fe255998604778" /><Relationship Type="http://schemas.openxmlformats.org/officeDocument/2006/relationships/notesSlide" Target="/ppt/notesSlides/notesSlide9.xml" Id="Ra19745ce22af47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781C444-8E89-48B7-89DD-008C081E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1840391"/>
            <a:ext cx="18288000" cy="6606219"/>
          </a:xfrm>
          <a:custGeom xmlns:a="http://schemas.openxmlformats.org/drawingml/2006/main">
            <a:rect l="l" t="t" r="r" b="b"/>
            <a:pathLst>
              <a:path w="24384000" h="8808292">
                <a:moveTo>
                  <a:pt x="0" y="0"/>
                </a:moveTo>
                <a:lnTo>
                  <a:pt x="24384000" y="0"/>
                </a:lnTo>
                <a:lnTo>
                  <a:pt x="24384000" y="8808292"/>
                </a:lnTo>
                <a:lnTo>
                  <a:pt x="0" y="8808292"/>
                </a:lnTo>
                <a:close/>
              </a:path>
            </a:pathLst>
          </a:custGeom>
          <a:solidFill xmlns:a="http://schemas.openxmlformats.org/drawingml/2006/main">
            <a:srgbClr val="A02337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4AEE951-C2A9-46FC-B182-3B592B19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444" y="574967"/>
            <a:ext cx="4114800" cy="788384"/>
          </a:xfrm>
          <a:custGeom xmlns:a="http://schemas.openxmlformats.org/drawingml/2006/main">
            <a:rect l="l" t="t" r="r" b="b"/>
            <a:pathLst>
              <a:path w="5486400" h="1051179">
                <a:moveTo>
                  <a:pt x="0" y="0"/>
                </a:moveTo>
                <a:lnTo>
                  <a:pt x="5486400" y="0"/>
                </a:lnTo>
                <a:lnTo>
                  <a:pt x="5486400" y="1051179"/>
                </a:lnTo>
                <a:lnTo>
                  <a:pt x="0" y="10511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538bfc553c140ef"/>
            <a:stretch>
              <a:fillRect l="0" t="-23384" r="0" b="-23384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107DD32-5A4B-4F60-A1A3-83BF6C03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3401" y="3794960"/>
            <a:ext cx="14081198" cy="24889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799"/>
              </a:lnSpc>
              <a:spcBef>
                <a:spcPct val="0"/>
              </a:spcBef>
              <a:buNone/>
              <a:defRPr sz="5100" b="0">
                <a:solidFill>
                  <a:srgbClr val="FFFFFF"/>
                </a:solidFill>
                <a:latin typeface="Belleza"/>
                <a:ea typeface="Belleza"/>
                <a:cs typeface="Belleza"/>
              </a:defRPr>
            </a:pPr>
            <a:r>
              <a:rPr sz="5100" b="0">
                <a:solidFill>
                  <a:srgbClr val="FFFFFF"/>
                </a:solidFill>
                <a:latin typeface="Belleza"/>
                <a:ea typeface="Belleza"/>
                <a:cs typeface="Belleza"/>
              </a:rPr>
              <a:t>Few-Shot Personalized PPG-Based</a:t>
            </a:r>
          </a:p>
          <a:p xmlns:a="http://schemas.openxmlformats.org/drawingml/2006/main">
            <a:pPr algn="ctr">
              <a:lnSpc>
                <a:spcPts val="9799"/>
              </a:lnSpc>
              <a:spcBef>
                <a:spcPct val="0"/>
              </a:spcBef>
              <a:buNone/>
              <a:defRPr sz="5100" b="0">
                <a:solidFill>
                  <a:srgbClr val="FFFFFF"/>
                </a:solidFill>
                <a:latin typeface="Belleza"/>
                <a:ea typeface="Belleza"/>
                <a:cs typeface="Belleza"/>
              </a:defRPr>
            </a:pPr>
            <a:r>
              <a:rPr sz="5100" b="0">
                <a:solidFill>
                  <a:srgbClr val="FFFFFF"/>
                </a:solidFill>
                <a:latin typeface="Belleza"/>
                <a:ea typeface="Belleza"/>
                <a:cs typeface="Belleza"/>
              </a:rPr>
              <a:t>Blood Pressure Estimation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7D1BB27-22CF-4BCD-9D48-A8A6137B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5551" y="6879223"/>
            <a:ext cx="14756898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200"/>
              </a:lnSpc>
              <a:spcBef>
                <a:spcPct val="0"/>
              </a:spcBef>
              <a:buNone/>
              <a:defRPr sz="25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Progress Update · Cheng Jiangyu · 17 Aug 2026</a:t>
            </a:r>
          </a:p>
        </p:txBody>
      </p:sp>
    </p:spTree>
    <p:extLst>
      <p:ext uri="{BB962C8B-B14F-4D97-AF65-F5344CB8AC3E}">
        <p14:creationId xmlns:p14="http://schemas.microsoft.com/office/powerpoint/2010/main" val="12240674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DE17D7C-62D3-4C0E-9367-A17F8611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200150"/>
          </a:xfrm>
          <a:custGeom xmlns:a="http://schemas.openxmlformats.org/drawingml/2006/main">
            <a:rect l="l" t="t" r="r" b="b"/>
            <a:pathLst>
              <a:path w="24384000" h="1600200">
                <a:moveTo>
                  <a:pt x="0" y="0"/>
                </a:moveTo>
                <a:lnTo>
                  <a:pt x="24384000" y="0"/>
                </a:lnTo>
                <a:lnTo>
                  <a:pt x="2438400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rgbClr val="A02337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A85593E-F1BA-4B0A-9EDF-357D5344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86261" y="130821"/>
            <a:ext cx="897867" cy="897867"/>
          </a:xfrm>
          <a:custGeom xmlns:a="http://schemas.openxmlformats.org/drawingml/2006/main">
            <a:rect l="l" t="t" r="r" b="b"/>
            <a:pathLst>
              <a:path w="1042543" h="1042543">
                <a:moveTo>
                  <a:pt x="0" y="0"/>
                </a:moveTo>
                <a:lnTo>
                  <a:pt x="1042543" y="0"/>
                </a:lnTo>
                <a:lnTo>
                  <a:pt x="1042543" y="1042543"/>
                </a:lnTo>
                <a:lnTo>
                  <a:pt x="0" y="10425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0544b3b7034403"/>
            <a:stretch>
              <a:fillRect l="-7801" t="0" r="-7801" b="0"/>
            </a:stretch>
          </a:blip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E2442-5B11-4E4F-AF41-7854055B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625"/>
            <a:ext cx="1428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Leakage-Safe Few-Shot Evaluation Protocol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6B89F-B6B0-4FD3-A810-867DF5A1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525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39074-E058-4668-A37F-397FA274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53340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6C7ED-4C20-4FC8-87B3-0E29B73A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952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A023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F21E3-47E9-4509-B2FC-ED4397F2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F18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F182A"/>
                </a:solidFill>
                <a:latin typeface="Arial"/>
                <a:ea typeface="Arial"/>
                <a:cs typeface="Arial"/>
              </a:rPr>
              <a:t>Development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C41F6-5B62-473C-BDD4-27B91526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05050"/>
            <a:ext cx="4876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PulseDB development cohort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Subject-disjoint meta-validation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Chronological event ordering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F73E0-F32D-43CC-81AD-DDCF2CAA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53340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C12E9-470B-4543-B5B0-6285D4A2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952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A0"/>
          </a:solidFill>
          <a:ln xmlns:a="http://schemas.openxmlformats.org/drawingml/2006/main" w="9525">
            <a:solidFill>
              <a:srgbClr val="2867A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6E0DB-9370-48E3-B610-E3D18453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71650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67A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67A0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29995-A37F-4711-A93A-CE1857E8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4876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K = 1 / 2 / 3 / 5 reference events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First K events are support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Predict event 6 and later queries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F1138-E970-422D-893F-0D0F1CB7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1600200"/>
            <a:ext cx="53340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A5763-57FA-41A5-B079-986938E8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1600200"/>
            <a:ext cx="952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9525">
            <a:solidFill>
              <a:srgbClr val="1B7F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0E84B-5295-48F8-8ACC-A8E53738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1771650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7F5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B7F5A"/>
                </a:solidFill>
                <a:latin typeface="Arial"/>
                <a:ea typeface="Arial"/>
                <a:cs typeface="Arial"/>
              </a:rPr>
              <a:t>Primary 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D0026-AF12-4EA4-9E66-0D95912E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2305050"/>
            <a:ext cx="4876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697 participants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103,564 common queries per K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Participant-macro MAE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F8257-0346-42CD-82E0-55028ABD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10250"/>
            <a:ext cx="433387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66755-A73D-4AB6-A584-C204A762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4837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Population PPG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43640-9D83-496A-84CB-669533A3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000750"/>
            <a:ext cx="123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A0233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0233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F41E5-EBCC-4072-B720-81D3B66C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10250"/>
            <a:ext cx="433387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A0233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9B1BF-F781-42E9-BFF0-297CD487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4837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F18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182A"/>
                </a:solidFill>
                <a:latin typeface="Arial"/>
                <a:ea typeface="Arial"/>
                <a:cs typeface="Arial"/>
              </a:rPr>
              <a:t>K-event calibration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3360C-3DAE-400A-8C6B-9A4B765D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000750"/>
            <a:ext cx="123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A0233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0233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03785-524F-4401-9006-450A0D11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810250"/>
            <a:ext cx="433387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3A0A2-04F2-4116-A411-CF083E32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04837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Event 6+ prediction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01846-9090-4AE5-BEE8-76E6CFC3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962900"/>
            <a:ext cx="1428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863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86300"/>
                </a:solidFill>
                <a:latin typeface="Arial"/>
                <a:ea typeface="Arial"/>
                <a:cs typeface="Arial"/>
              </a:rPr>
              <a:t>Reference BP values in PulseDB are ABP-derived labels, not literal cuff readings.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D2D9AE-095B-480B-8CA3-7E8559C2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440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Meta-validation only · Locked meta-test untouched</a:t>
            </a:r>
          </a:p>
        </p:txBody>
      </p:sp>
    </p:spTree>
    <p:extLst>
      <p:ext uri="{BB962C8B-B14F-4D97-AF65-F5344CB8AC3E}">
        <p14:creationId xmlns:p14="http://schemas.microsoft.com/office/powerpoint/2010/main" val="2047214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DE17D7C-62D3-4C0E-9367-A17F8611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200150"/>
          </a:xfrm>
          <a:custGeom xmlns:a="http://schemas.openxmlformats.org/drawingml/2006/main">
            <a:rect l="l" t="t" r="r" b="b"/>
            <a:pathLst>
              <a:path w="24384000" h="1600200">
                <a:moveTo>
                  <a:pt x="0" y="0"/>
                </a:moveTo>
                <a:lnTo>
                  <a:pt x="24384000" y="0"/>
                </a:lnTo>
                <a:lnTo>
                  <a:pt x="2438400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rgbClr val="A02337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A85593E-F1BA-4B0A-9EDF-357D5344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86261" y="130821"/>
            <a:ext cx="897867" cy="897867"/>
          </a:xfrm>
          <a:custGeom xmlns:a="http://schemas.openxmlformats.org/drawingml/2006/main">
            <a:rect l="l" t="t" r="r" b="b"/>
            <a:pathLst>
              <a:path w="1042543" h="1042543">
                <a:moveTo>
                  <a:pt x="0" y="0"/>
                </a:moveTo>
                <a:lnTo>
                  <a:pt x="1042543" y="0"/>
                </a:lnTo>
                <a:lnTo>
                  <a:pt x="1042543" y="1042543"/>
                </a:lnTo>
                <a:lnTo>
                  <a:pt x="0" y="10425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35e899dfd3942c2"/>
            <a:stretch>
              <a:fillRect l="-7801" t="0" r="-7801" b="0"/>
            </a:stretch>
          </a:blip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F8814-52EA-4582-BE52-9ADDB5DD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625"/>
            <a:ext cx="1428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Models and Personalization Mechanisms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F7055-0F62-4F58-B98E-4C1A765D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525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A0CEE-37BE-42B3-B254-B7424210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4B78F-EDF1-4021-9C74-16E39538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382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18B65-A840-44A0-967C-73A4BB0D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287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A85E6-8547-4D30-8B30-0DA7FA93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382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mechanism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AA3D4-75D2-4D97-ADDB-167F62EA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5C28B-6220-4C52-A311-D36242BA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4382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Personalization behavior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1400B-A8E8-47E6-A409-7370EC86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0EC0A-3E76-4594-8695-5FB7BAE3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478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D4DBD-5D81-41AF-BB85-AC133D24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383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20D1C-FC29-47BE-96E2-45086285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0478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Population BP mean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8C1AB-8C01-4DC6-A2E8-9FCE5634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383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717A09-4EFA-4B88-9286-4D3A3E6F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478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No PPG; no calibration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F6AB9-1546-4E31-BA3B-243B3F1D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69C7B-5A07-4B29-ADB5-40EC507B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574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55015C-C2D5-4081-B35B-5C4F294E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479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3226D-7FCB-4422-A704-601B2DCB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6574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Last reference BP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D0E2EC-8425-4279-A539-C56CA7AD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479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57573-2788-431E-BA29-3148577B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574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Copies the latest support label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4158D-5D93-414C-BD04-3DDD26F7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575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940AA-8DB5-48A9-A704-81791AA8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2670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F62052-45C9-4030-8B43-3627B406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575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E31900-193D-4505-B29F-D9FFA351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670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Mean support BP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28A53B-BD1E-4B8B-BBF3-44C61EB1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575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E20EC2-0FD4-48E9-8541-992ED00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670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Averages K support labels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877315-54F1-4EB8-BD8B-F41BD01B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671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6E5D1E-8B19-418F-89F1-A91AE191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766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F5BE93-07FA-4B4B-9374-D6005F01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671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F16C90-5853-4C2B-BE05-FEF3E767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8766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Population PPG network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1E1A49-A17A-4808-8A22-A075D8B2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671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89B4FE-8847-4B2B-81EE-6DC4F835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8766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PPG-only; no personal adaptation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987CB6-322B-4F7E-87A4-B64D07C0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47D6F7-63AA-4C67-BF89-585DDC57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862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8B2A96-E5C6-4B78-B84F-AC3E0628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767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B86E48-4B15-45B1-8133-0273A9FA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862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Residual offset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78261E-1E26-41BB-B088-CF1FA037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767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CEECC4-6A12-40A2-A0E1-34ED5FC4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4862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Adds mean support residual to B3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458A8F-2B3C-4E8F-AEE6-387DBEA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863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FC1E98-0574-4A64-99F7-19697D63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0958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0A99CC-DEB7-4C7A-91B5-E8190B94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863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F798BB-339F-49E3-B083-038CBCC3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958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Siamese metric model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26A1C9-25C6-41EE-94BA-06619799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863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1E0EFF-F01E-46A8-8944-10824D88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0958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Support-query similarity; K=1 diagnostic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7CE695-33ED-4DFF-8988-B89ED2CA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959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16C228-710A-4FE9-93C5-35318831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054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08FAFD-0DDA-48EA-8C5B-0CCAFE5E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6959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4D02EC-AAB0-44A7-848D-539AF699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7054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Head-only adaptation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060AA4-9D59-4C40-A2B1-0627810F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6959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BE7F78-DE41-439D-98A3-00B68C1A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7054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Updates only the prediction head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B6B761-A8ED-4DD0-B834-DCF4DE24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055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DE6667-C295-4C7F-9098-BF69D788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150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996FCD-B586-4029-805D-89999AD6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3055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A38D8F-97E6-4978-8F36-9E5EF682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3150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Full fine-tuning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4803CB-2A5D-4D89-B9AB-86B6936C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3055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C6FE0F-E093-41E2-892D-40A52B2D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63150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Updates the complete network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245C10-780A-4185-9BFC-37169273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9151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CB6B66-1940-43CE-ABCC-F7C8FE66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9246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BC110E-A1A8-4DE8-9909-73A3BF7A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9151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601CFB-6B65-47D4-89E4-52C00F12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9246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LoRA adaptation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DD5C4E-0E08-4A8A-86CB-9ABBF1E7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9151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45CAD7-9A32-4548-9614-31A50495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69246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Low-rank parameter update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FAC21E-293F-4A9F-99CA-1CD7A489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837CA80-7E2B-4225-9925-620AFF73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5342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DA013A-3F7B-4F21-AC8B-C24099A2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5247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96459CB-E6EA-4529-B55C-A78A6A91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75342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Residual-anchor set encoder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BBAA26-7D27-46D6-A87B-A940CFE9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5247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13D6B7-6F0E-4D54-AAE6-49177DA4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75342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Mean residual anchor + support context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8595B9C-05B4-4F08-A741-7DF807EF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343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654C426-AD7D-4568-A063-8E5607A4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1438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1F268CF-2689-4A2E-AA18-91B00F4F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81343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9E179C3-F765-4740-9709-C2F1B7B1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81438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M0 + FiLM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8631E5F-C995-4112-9839-ECD08A7D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1343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76CF952-B9B8-49E6-B8B9-D9EBB23F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81438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Feature-wise modulation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5A43CA3-2C7B-4300-A596-F10AC847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439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0AC3D59-93B1-449B-BDD7-C4CB374E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7534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AD43C7-4F66-4F0C-8476-2410281C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87439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923DDCF-840E-47D0-9634-430DBEA9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87534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M0 + reliability weighting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56AD2E-5A04-4965-AB17-B03F43B2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743950"/>
            <a:ext cx="966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107A4F6-F526-4FCF-A421-F826DD74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8753475"/>
            <a:ext cx="962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Query-conditioned support weighting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6BADF53-A97C-4D94-8627-655FF3EE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440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M0 is the current parsimonious candidate; M1/M2 add complexity for ablation.</a:t>
            </a:r>
          </a:p>
        </p:txBody>
      </p:sp>
    </p:spTree>
    <p:extLst>
      <p:ext uri="{BB962C8B-B14F-4D97-AF65-F5344CB8AC3E}">
        <p14:creationId xmlns:p14="http://schemas.microsoft.com/office/powerpoint/2010/main" val="2047214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DE17D7C-62D3-4C0E-9367-A17F8611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200150"/>
          </a:xfrm>
          <a:custGeom xmlns:a="http://schemas.openxmlformats.org/drawingml/2006/main">
            <a:rect l="l" t="t" r="r" b="b"/>
            <a:pathLst>
              <a:path w="24384000" h="1600200">
                <a:moveTo>
                  <a:pt x="0" y="0"/>
                </a:moveTo>
                <a:lnTo>
                  <a:pt x="24384000" y="0"/>
                </a:lnTo>
                <a:lnTo>
                  <a:pt x="2438400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rgbClr val="A02337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A85593E-F1BA-4B0A-9EDF-357D5344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86261" y="130821"/>
            <a:ext cx="897867" cy="897867"/>
          </a:xfrm>
          <a:custGeom xmlns:a="http://schemas.openxmlformats.org/drawingml/2006/main">
            <a:rect l="l" t="t" r="r" b="b"/>
            <a:pathLst>
              <a:path w="1042543" h="1042543">
                <a:moveTo>
                  <a:pt x="0" y="0"/>
                </a:moveTo>
                <a:lnTo>
                  <a:pt x="1042543" y="0"/>
                </a:lnTo>
                <a:lnTo>
                  <a:pt x="1042543" y="1042543"/>
                </a:lnTo>
                <a:lnTo>
                  <a:pt x="0" y="10425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b91cea5c1f14faf"/>
            <a:stretch>
              <a:fillRect l="-7801" t="0" r="-7801" b="0"/>
            </a:stretch>
          </a:blip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AEDD5-BD6C-466D-B7F6-1B690DFB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625"/>
            <a:ext cx="1428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Round 1 — Single-Seed Exploration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84769-0FB3-4036-8309-CAD1DD63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525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0493C-9BAB-4B22-BFAB-701E181A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EBDDD-71C5-4927-9D6C-149911CF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3352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40455-EAB9-4F8E-B406-4D16552A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240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C50A2-BCFD-41C1-BD99-ED74F64B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335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K=1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8F7F3-A59C-44E0-87B3-A623228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240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FDEE1-8C66-4996-919F-DCFBCC53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335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K=2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665A3-71CE-4085-AE5D-8E525DF1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240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361F4-64BD-4FED-B37A-EAEA67A1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5335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K=3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5450C-EA83-48B6-B657-E8E9E5BC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9429A-4E92-43DC-AA61-2AFD4FC7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5335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K=5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45C82-CD38-4423-AFEE-E1BFFCD7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52400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962C7-210A-46E6-AE5A-CFD4BAB4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153352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92539-25A0-4446-B7AD-6D3BA2A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3D769E-5877-4506-9CC4-A6F65E50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16217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B0 Population mean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C5407B-8CFF-4D93-A4E9-77F69E58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526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C48C20-F7D0-46B5-B67F-6343A196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621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13.620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091B0-4A44-403F-A507-C0C08423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526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86C467-4B19-4D12-8DEB-A971661A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1621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13.620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4D2C5D-DF57-4F49-9BAF-93B3BE47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526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11FCD7-A2D8-4B53-97AF-DEC7F3F1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621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13.620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15705C-BC25-479D-8027-1091C489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526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656396-41C8-4729-9E3E-62AA3838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621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13.620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B2A9BE-E878-40EE-8B9D-E5682E92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15265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F63858-6517-4026-8E36-9D7F4B9F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16217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No personalization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C943F3-E9D1-4EF7-9C0D-60D6C158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221D83-0A54-4021-B5EE-704CAD58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9082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B1 Last reference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6A9319-6D1D-4E27-9C5B-1926C9B9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813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9E7D68-4806-4C10-87F7-DC295CF5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908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15.023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E2829B-EE77-4880-BA7E-789A351B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813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798030-7904-4900-9BC9-2EF23740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908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13.825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F8CE8C-9537-4293-AF81-9EB7CE26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584A46-435F-406E-8D09-F1C2888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908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12.993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A7153E-0338-451E-823F-09132E0D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DB4FE8-4BED-4510-9FCB-F9634EE9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908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12.733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3C183B-2F27-4C9D-A810-31EF2FEE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78130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131E0F-1A2B-445B-B3EC-D2766847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9082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Label-only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A0EED2-6CFA-4197-B88E-A6693972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99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AB209C-3293-4E02-A9DA-79479111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1947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B2 Support mean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0A33F1-4DBF-4453-943B-2A96F0E7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09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D53F67-EE48-4B9F-808F-CD6AF080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194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15.023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22AE02-FA8D-469B-B1CB-D983BED3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09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E68E63-A950-474C-8DA3-CF736CE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194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13.570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07F861-B333-45F6-9AEC-B8DC1DCB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09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CBE2A3-45F0-4DCF-8DC3-F07C4DB9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4194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12.755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B43397-C917-4668-8500-58AF14A2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09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F549BB-9966-4289-898E-8E41E059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194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11.948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541CF7-7E45-4281-ACBB-21E9F517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40995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68161B-B470-448F-BE38-EB811152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41947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Label-only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5AE279-D6DC-4A87-97F4-0E865BFD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386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AF33F0-BDD7-46DF-A342-DED863F6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04812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B3 Population PPG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1827E1-E0FC-4593-84C6-75B25355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386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6A9066-34FD-47E3-8F06-44EA8469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481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11.638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FFB317A-8695-4976-A5CC-AF0030ED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386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34AC89-E94A-4EA9-B63F-AEEA8F37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0481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11.638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35C0B4E-AB02-48EC-B482-225B3B72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386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3172F6-45F9-4C88-9A3C-3DFAEC2F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481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11.638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F27712-FBFD-4B3B-A521-54CBC074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386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513A9E5-2E75-40E3-94B2-FDA74E0D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0481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11.638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CE4033-FDE7-48CD-B2DE-60232554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3860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B163F4-44AB-497E-B31F-1D438713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04812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PPG-only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C0E3B5-2021-44A9-AF07-F58B74F6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0A6500-73D7-4AA4-95C2-556831BD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7677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B4 Residual offset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C51094F-3A44-4CC6-8CFE-7F568C11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67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9C0FD7-60EF-4673-913F-C6E9DD82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767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12.305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03DA36-DD34-4F0F-9A68-7EAC6BB7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67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BF3FD25-9522-4F8F-B761-0FBBB9CD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6767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11.190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1E8C23E-E722-45A9-9920-F73A7D1A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67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F8D407A-FAD3-445D-9381-6CCD0214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767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10.593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AECEB2-CD4F-4F23-AB68-96BDC72D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67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FB3BF9-EF58-4770-B8C4-0BE9FBFE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6767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9.931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CB8C16-7122-40CA-99BB-88F147D2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66725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AB470CE-6CF9-4199-8663-739ACBD4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67677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Simple calibration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83D7BCB-080A-483E-B360-E56B1833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959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EF6A3E-D38B-4EB0-9A30-0B0FC420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30542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B6 Head-only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4EB409-6098-4E4C-8FDF-861BDEF6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95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E975625-F73E-42B2-8D17-D099C0E9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3054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10.975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185D01F-7078-4696-B1CC-164AB918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95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B7BCE35-0CDC-4479-944F-D7E40EE8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3054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10.427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00B7273-75A7-4EBF-AC43-C8E1E2EF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95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D1CFECE-8513-470F-BC90-634498A6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3054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10.040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DEDC7C4-5E7F-4F13-B146-A573C85B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95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5D5E7F4-042A-4DF2-B108-E2D6BE88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3054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9.554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5AEC8A6-A624-4F09-BB48-D25F24E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29590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6A0626F-8BDC-4CF3-B8D7-D4D84E18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30542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Gradient adaptation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F7A4FCC-9452-484F-AB16-B5779D2B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245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4B2C66F-EBCE-46D1-8D2B-0A8CE3D7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3407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B7 Full fine-tune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DE8DF8A-4F68-4F74-9B2B-9F3A3C2F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9245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289BC85-5024-42D3-BC35-A8E5F6D6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9340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15.032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26D6F4F-1C84-4AB7-8D31-31B18C83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245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C9C329B-D0B1-45B3-BF9B-D0462B95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9340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13.381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873F6BB-9239-4B14-BD4C-4A3E44D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9245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AB5C971-9A24-43CE-80BE-F905C064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9340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12.498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EF9DD9-DD5A-47F1-856E-8D708784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9245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44EA100-26BF-423E-A530-7B9C89F2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9340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11.862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EF442C9-405C-4FC5-9753-934DF1FB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92455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38F797A-0F3A-4948-BF5A-262D816C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93407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Unstable few-shot fit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22C850-9BCE-4474-981D-3D3934BA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E0C73C4-1DED-45FF-9777-BD76B48B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56272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B8 LoRA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3A88E63-7FC5-4D6D-8A68-5BC98EA4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5532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ED204AD-7B60-4E8F-BD92-9BB9FC68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5627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10.372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5380334-8669-4C19-995E-B40F39B9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5532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F12AAE5-C79F-4556-8975-7E8DFEC2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5627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10.043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DC330FD-86DB-4768-A04C-E81CFBFA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5532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29B5203-29EF-4A22-A919-10D6C488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5627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9.824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5BBCC6A-FDE6-4E93-9CBC-2D16C4A8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5532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6933D8E-725D-41B0-BA43-BA1CFE2C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5627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9.509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E461B91-EC9C-4B3A-A0E3-9B9A4EC7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1A37A99-B3C9-42C6-8B3A-2FD10C4A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56272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Parameter-efficient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02D11BF-EAB1-4A4D-81B2-3F99591D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818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F60E015-BAF4-4461-B362-3A2BFD29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19137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64C6322-7254-49ED-9853-D2F1C95D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1818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4B8C805-DAA4-4556-8B9B-F653AD1A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71913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9.998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0D2DF8F-D520-4B80-B320-08A7689B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1818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8C0952A-8AC4-41C2-BEA6-E9119C84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71913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9.435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E68B29A-43B3-491D-B437-C6A8D7EA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1818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FBA44A1-C0D3-4CF3-AE23-60DAE894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71913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9.119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AFF8F21-77B5-45C7-89C0-30725D79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1818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D1F8069-2E3A-4C40-9068-F27D8B96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71913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8.688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C3B95BA-AD03-490F-A567-24EDE4A5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18185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09E508D-7ACB-4E10-A842-41EF95F7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719137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Best overall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FCABD3F-64BE-4C19-A6FC-3058F2D7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105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2E8F876-2E18-4AD2-B298-AE1DBFED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82002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53672C7-42AB-4E01-ABE4-3F2F8CE8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810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042EAEC-D241-423D-941E-45D2956D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78200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10.307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C9B9F5C-A2EB-493A-B8DD-535AA786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810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D236996-0E61-41BD-95D4-9C5070A9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78200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9.630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709F2D5-F46F-4A4C-AD7F-BCD9B616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810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513F094-DF9A-4DFD-9C67-59B13723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78200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9.280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0200D85-E45F-4E2F-9F3E-89ACFBE6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810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1AACBF7-FEF7-486A-A200-0F9EDFF3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78200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8.818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92D549C-86CB-44A6-B131-700E2055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81050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8C4FD8F-8DDA-4EB9-8E24-76834FAA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782002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M0 + FiLM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B546578-08B5-466B-8CBA-30BBFF11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4391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F8EDB09-7BBF-42AE-9C0A-874F9738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44867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E8B88F4-1E4A-448B-9457-D809E62E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4391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C17CBEA-C652-4B72-B18A-72701815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84486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10.622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48DC0A1-C11D-4756-B7FF-B5C51701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4391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551A86F-C806-4FA1-A4FF-C75A6759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84486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9.807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B9F014C-3DFD-4307-A50B-9942017E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4391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B75D9BA-2377-464A-9EC9-8C2E255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84486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9.381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DDBA9C1-91CB-497C-8A89-379F64D1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4391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ED5698A-BEE8-4BB1-BFE0-B755DD1D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84486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8.873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69C69BA-4F27-4ADD-9E9A-63F9ACF6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843915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EC039B2-A3F1-4FDF-8E69-B258A497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844867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M0 + weighting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319896F-D6DB-4B62-BCBB-82C93E81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106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Participant-macro mean MAE (mmHg) · seed 20260813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357151A-4157-4C41-AB46-FBA56FBC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440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Meta-validation only · Locked meta-test untouched</a:t>
            </a:r>
          </a:p>
        </p:txBody>
      </p:sp>
    </p:spTree>
    <p:extLst>
      <p:ext uri="{BB962C8B-B14F-4D97-AF65-F5344CB8AC3E}">
        <p14:creationId xmlns:p14="http://schemas.microsoft.com/office/powerpoint/2010/main" val="2047214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DE17D7C-62D3-4C0E-9367-A17F8611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200150"/>
          </a:xfrm>
          <a:custGeom xmlns:a="http://schemas.openxmlformats.org/drawingml/2006/main">
            <a:rect l="l" t="t" r="r" b="b"/>
            <a:pathLst>
              <a:path w="24384000" h="1600200">
                <a:moveTo>
                  <a:pt x="0" y="0"/>
                </a:moveTo>
                <a:lnTo>
                  <a:pt x="24384000" y="0"/>
                </a:lnTo>
                <a:lnTo>
                  <a:pt x="2438400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rgbClr val="A02337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A85593E-F1BA-4B0A-9EDF-357D5344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86261" y="130821"/>
            <a:ext cx="897867" cy="897867"/>
          </a:xfrm>
          <a:custGeom xmlns:a="http://schemas.openxmlformats.org/drawingml/2006/main">
            <a:rect l="l" t="t" r="r" b="b"/>
            <a:pathLst>
              <a:path w="1042543" h="1042543">
                <a:moveTo>
                  <a:pt x="0" y="0"/>
                </a:moveTo>
                <a:lnTo>
                  <a:pt x="1042543" y="0"/>
                </a:lnTo>
                <a:lnTo>
                  <a:pt x="1042543" y="1042543"/>
                </a:lnTo>
                <a:lnTo>
                  <a:pt x="0" y="10425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7122b74ab7d4413"/>
            <a:stretch>
              <a:fillRect l="-7801" t="0" r="-7801" b="0"/>
            </a:stretch>
          </a:blip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CF28E-7ADA-420B-A994-D7A0B28C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625"/>
            <a:ext cx="1428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Round 2 — Five-Seed Early-Stopping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185BE-148B-449A-B50D-20F59A70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525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94CE1-8823-4E09-880B-C90A4DCD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166AB-CF73-4C9E-8A8E-0C3AB156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3352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D83DA-12FE-4A07-9310-120C16AE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240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E6159-84E2-41D9-93E6-524C5804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335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K=1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AE1C0-DC07-451B-98C5-FFAC041B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240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EDC55-D0F6-4635-9361-A98A8F34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335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K=2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D499E-9F0C-40E5-8C0A-A4270212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240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8A0E0-D04F-4F79-A65B-ABEAED7C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5335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K=3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DC6DD-5FBB-4DF2-BA95-EA24E0AB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09703-6E4D-4CF4-B542-55ADA1E9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5335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K=5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2EB36-6A4D-4322-8342-43616726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52400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E94B9-5641-4265-97AC-378FBF4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153352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 vs Round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539DD-B218-43A1-8AFB-D87B106E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0C274-ED40-4F46-9472-EF4979FA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16217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B0 Population mean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A9C0F-3672-4E4A-8C70-273B4CA9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526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0E747-CBE6-4D36-BDD8-C3DA2E19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621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13.620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4851C-3E2B-46D7-ACD3-76308FA8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526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9E10ED-F4BB-4524-91B8-0B11CF3A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1621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13.620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B06CE8-9D9E-4298-85E8-A84DD183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526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7F833C-1246-43DE-9CF5-E1793E68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621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13.620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76D763-32F7-4056-B7FF-A1C2CE99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526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C595EC-37B6-4547-B8CB-6BC69C7E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621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13.620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6D0B84-8F09-4764-8124-451DBAB2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15265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051412-85CD-4C0F-8415-42847DAF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16217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E81790-114F-4168-A5F0-5395EA50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D01B1D-6737-4293-87E2-6A760B83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9082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B1 Last reference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9B6F93-867D-4C3B-8CC3-52A6A15F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813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6AC83B-3722-4DF3-95F8-E61085C3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908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15.023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1E83A4-B9D5-46F2-9E08-8B9D1516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813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01A6BD-4108-4605-85AB-1E9C996A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908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13.825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177379-7316-42FE-A5A1-B382631C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C6928C-B8A9-4698-805C-B0694006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908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12.993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AFE43C-6516-49E5-A2BC-47972155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B984D3-45BF-46FB-B646-50B13C65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908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12.733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4EBF5D-6F96-4B7F-9E30-2F68ED85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78130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109024-5942-4AC5-B609-AB3273B3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9082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936EAF-32A5-40B3-AEDF-4659F0CF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99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1D6B0A-216E-4BEF-8FF4-1D1F9C43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1947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B2 Support mean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C50272-3253-4A82-8303-A18DE33F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09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31FD30-4C3E-44D7-95B5-B829923A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194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15.023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64AFCF-9887-4372-8218-52EE99A8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09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9A4BDE-771D-444E-9592-BEF7AD37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194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13.570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FD056D-E4CE-4030-9799-0B958425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09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B5BFCE-7D13-4013-8D82-8EED203C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4194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12.755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9A7FA3-2272-4797-A6D5-005966E2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09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1E765C-EF2B-40D2-B23A-2CAC97FA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194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11.948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69CF4D-8859-43E4-88CD-61F6CB17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40995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F66F0E-12E1-4AF1-B4BC-34C8E82C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41947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E371E2-82FB-4289-AC3B-42DFBB58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386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152A0E-DB9A-4B7B-8D87-E41138E0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04812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B3 Population PPG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06BF87-C492-43EE-9B12-76D7072F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386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79545D-9464-4639-AF08-55723290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481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11.710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8C3F0C-B165-4493-8C56-EF659CE4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386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4066F0-457B-4268-B438-1A091CE6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0481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11.710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2757F6-0837-42A2-A366-C5EFDC44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386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4E856AB-CDA1-4F82-B5A3-161ED84E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481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11.710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386679D-0971-403B-B079-31317478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386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F92A97-177B-46C9-8C23-D298BBBD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0481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11.710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8B54BA8-02D7-47CC-BF7C-B5923C29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3860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34F970-46B5-46A5-A652-8C086DDB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04812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+0.072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995A45-F655-4E7D-9969-EEA33EA0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53C595-C1ED-4AC1-AE30-368165F1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7677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B4 Residual offset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5262F0-0298-4F5C-AAB4-E0E5DD35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67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6F72A66-DE53-44B0-8DC5-90D76639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767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12.327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7B2E121-9041-4A33-8663-F3BA8D81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67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F6F0643-411C-4157-BDE8-C73E760A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6767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11.200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4C06B6E-F6D3-4053-92F9-C9F7B785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67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8DAB207-1C62-4A4C-B042-F0400465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767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10.624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D2760D5-D66A-40CD-A3DE-934F6D64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67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A787788-1E20-4B6E-9E95-FC8DF54A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6767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9.951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65945E-0ABB-49E6-9B00-4487A90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66725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032B9A0-9C8D-428E-BEFA-8B9E6FB7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67677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+0.020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5A219D2-4AF1-4319-BA30-1E3F9009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959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969D2F9-A5A3-46C4-8B99-95572FAD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30542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B6 Head-only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B124AAC-AF67-4D8A-BBB6-10CBC7A9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95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5B66A9-8FBF-4EB1-8DD8-FC37B4C9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3054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10.963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EF8ACF7-40D2-4C03-B9A8-16FBE7FB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95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F306445-4094-4B88-8899-1339EEDB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3054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10.472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33532E-8E0C-488E-BC59-1C581747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95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8006156-C031-481D-841A-5DD2FDC9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3054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10.105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1759A82-A082-4ACA-BADA-D46BEB8A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95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CD09554-7743-4E55-ABE8-28CDD568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3054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9.588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E06699B-4B5E-4C30-949B-81057D69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29590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2B33DEC-C239-49BE-A290-8D719870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30542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+0.034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199C408-7CF0-4A35-B251-718D1DEF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245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A34AA64-F232-42FD-BC5F-7CDD9FD1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3407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B7 Full fine-tune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3E7A94-6916-463E-970E-D7084000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9245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5FD2B25-8BBB-4DFD-ABDE-DC077CBD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9340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15.042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81F869B-E304-4958-86CA-48B0A199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245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697D000-C43E-46ED-8BDB-5D45724C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9340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13.382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33E5670-ACA6-4AE0-9224-B0780D8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9245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D6B2DF7-EE3B-4EE6-8429-300A5AFF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9340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12.520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A8D8743-D8FB-4F55-8831-74083520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9245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CD5C880-6624-42B2-B487-8B2EA68D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9340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11.842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595D325-F113-429D-A470-D9AC000A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92455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3A28D88-DCDF-4FF5-95B2-925B734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93407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−0.020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08F530A-0775-4B13-97A7-D5B889B0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F7A290D-5758-4648-A96D-A3114428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56272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B8 LoRA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0D225FC-A451-4664-85DD-168640A3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5532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E9EB843-4D2B-4AD5-9548-45956064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5627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10.499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A39B1AA-3A07-4166-A581-C83745C6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5532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514CBBA-A6F5-49D9-B261-01E2555C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5627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10.140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CD692A4-B7EE-4F9D-8661-CA849675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5532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062FD17-C359-405C-AC84-D1F37A4C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5627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9.944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37D93A4-5BD5-46BD-AB9B-F6A27FE2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5532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45AA1A2-AE82-4E37-A424-C72B07C5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5627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9.608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3C33B94-B460-431D-81A6-47C1E25D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3D071AC-14CE-4038-81BF-4DB9CC11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56272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+0.099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CFDA3C4-FDF7-4769-9974-B25325C8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818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11786CE-5CCC-4886-9C8B-6DB95E5A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19137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F629596-FB70-40ED-851F-A2BC95E8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1818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589B1D0-3746-4215-96A1-ED5EABC8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71913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10.081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4196C27-3976-4BA8-A7A8-04F4D2A0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1818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C31F6BF-C594-457B-B002-3D04A176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71913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9.526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6E7947B-ACAE-42B1-B6B8-CF1704ED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1818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6CFE616-568B-4C04-A08D-E09F15B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71913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9.235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1E7D779-DF3D-4568-B72E-D5D1A6C9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1818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8551294-D0BE-440C-89AE-2973842D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71913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8.785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DA8146E-C43A-43CF-854A-FE504974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18185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CC37DEB-71A8-4ED0-A210-16BBAB58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719137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+0.097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2C29868-27C7-4AAF-9910-4175BDA8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105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8CC198A-2C75-4EF1-B60E-B0F3F177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82002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1E3E88B-9799-4F84-BBB5-A60B6C3B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810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FAEF8E5-D8D8-403C-8651-64A85643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78200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10.190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A426E09-446E-43D7-AD43-08B9C3B1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810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445F18A-951E-4509-836D-D88CF37B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78200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9.563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97FE813-9E06-49A0-99B7-0EF46311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810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E6DC903-7BEC-4926-A5BB-DF1A0360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78200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9.251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24AD8C8-CE76-4E55-B9CB-6574CF77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810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C702776-A47E-442E-A773-B97CC8D7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78200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8.807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5FC5571-8D3A-4C6A-A082-1FFEEADC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81050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D09B6E0-5EDE-4428-B9D1-F956DCB1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782002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−0.011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823A893-AFF1-4CC0-8AED-77F3D091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4391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7125EDC-6A11-425A-AE27-E5EB1707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448675"/>
            <a:ext cx="3676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1148F61-DE5F-40E2-B0FD-0D3D95AB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4391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EEF71A5-A649-4465-9FAF-4D104210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84486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10.233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DF29255-9813-453F-95C6-81BE9DFF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4391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058B02C-F986-4260-B92F-5F9225E5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84486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9.641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6F6EA81-EAEB-4A9C-862D-65BE00DC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4391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A65AB02-12A5-40BE-9534-220F40A3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84486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9.332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912FCCA-3380-46B4-AEEA-1C4D63B6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4391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2375014-8A7D-4A22-A7D1-C40BD825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844867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8.834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4E1AEFE-5489-49EF-95A6-E693FAF9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8439150"/>
            <a:ext cx="719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8935F89-D2FF-4328-9C32-EBD42439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8448675"/>
            <a:ext cx="715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−0.039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38C2FE5-667E-444E-8357-CB027FD4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106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Participant-macro mean MAE (mmHg) · mean across 5 seeds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496FFFE-C25B-4B64-A1BD-B63F35A2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440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Meta-validation only · Locked meta-test untouched</a:t>
            </a:r>
          </a:p>
        </p:txBody>
      </p:sp>
    </p:spTree>
    <p:extLst>
      <p:ext uri="{BB962C8B-B14F-4D97-AF65-F5344CB8AC3E}">
        <p14:creationId xmlns:p14="http://schemas.microsoft.com/office/powerpoint/2010/main" val="2047214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DE17D7C-62D3-4C0E-9367-A17F8611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200150"/>
          </a:xfrm>
          <a:custGeom xmlns:a="http://schemas.openxmlformats.org/drawingml/2006/main">
            <a:rect l="l" t="t" r="r" b="b"/>
            <a:pathLst>
              <a:path w="24384000" h="1600200">
                <a:moveTo>
                  <a:pt x="0" y="0"/>
                </a:moveTo>
                <a:lnTo>
                  <a:pt x="24384000" y="0"/>
                </a:lnTo>
                <a:lnTo>
                  <a:pt x="2438400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rgbClr val="A02337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A85593E-F1BA-4B0A-9EDF-357D5344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86261" y="130821"/>
            <a:ext cx="897867" cy="897867"/>
          </a:xfrm>
          <a:custGeom xmlns:a="http://schemas.openxmlformats.org/drawingml/2006/main">
            <a:rect l="l" t="t" r="r" b="b"/>
            <a:pathLst>
              <a:path w="1042543" h="1042543">
                <a:moveTo>
                  <a:pt x="0" y="0"/>
                </a:moveTo>
                <a:lnTo>
                  <a:pt x="1042543" y="0"/>
                </a:lnTo>
                <a:lnTo>
                  <a:pt x="1042543" y="1042543"/>
                </a:lnTo>
                <a:lnTo>
                  <a:pt x="0" y="10425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a6ceb9e2514540"/>
            <a:stretch>
              <a:fillRect l="-7801" t="0" r="-7801" b="0"/>
            </a:stretch>
          </a:blip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96875-0F58-42A1-B482-53183289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625"/>
            <a:ext cx="1428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M0 Performance by Calibration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0B55A-9C77-4523-A54F-86195448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525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85885-E1DB-400D-B8D1-E1F49955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1A489-511D-47E6-ACA1-8313723C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19275"/>
            <a:ext cx="2819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8368D-41F9-4E0C-9FE1-B4C79252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CF28F-B0F4-42C2-8277-E74B92D4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19275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Overall MAE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36335-469C-4C63-88A8-CB05551C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EB576-A112-4FB4-9C3D-089D0F14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19275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SBP MAE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3B03A-A60E-4297-B66D-CB87206C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097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7436A-3A36-4C52-870B-F975EA1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19275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DBP 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35C78-20F6-4670-BB9A-F324EC6A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8097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66666-0F08-4578-B1D4-6C82909B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1819275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Gain vs B3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7615A-EC5A-4433-B952-6446A7BF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6E6EF-0E65-430B-BEE5-717158AF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2819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K=1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BDF86-2EF2-4B80-888C-43B0E545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CACE8-BD92-430C-AE8B-0D1A2D7C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10.081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5EB6D-BF96-43CB-B9ED-6F76BDA9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98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EB2E2-8585-4086-8B2B-B1FEF1CD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12.920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943D43-0623-4AFC-99C8-DE5A0888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098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62034-EAA0-40FC-BB9E-31E2DBA5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19400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7.242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902052-D47E-4B77-A740-CCB56EE9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098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BD3DE-6528-4AE8-8D7D-5739625C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2819400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1.629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759E24-020E-46E0-96A1-3049F5B8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871704-5BAB-4E9A-A7F6-2DEB0902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9525"/>
            <a:ext cx="2819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K=2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E883AE-4EA6-418D-8E70-E4152E0E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1000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5A34CB-03FF-4AB4-97DB-6C05920D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19525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9.526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300F3A-FB04-4703-9F80-445E9907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BFFC85-6F5E-4B53-8621-C8D7C1DE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19525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12.240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631567-7420-406E-B8B9-8E9E1C77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55F67B-E650-466E-A4FE-7FD95401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19525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6.812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CD6079-BD43-4B8C-BDDE-C4B59C17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81000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8442D4-E65F-4D0B-9B16-50C055B0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819525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2.184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72C755-A35A-4D79-83A2-78CCC75F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157096-6AA6-44F2-864B-94E06DE5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2819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K=3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CAC4A1-8995-4F89-9FBB-A48EABF0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01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64360E-3384-4B76-82F9-64423107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9650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9.235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5C24C7-6C78-459E-AFB3-164843E3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CDA7D0-DC8A-44D0-92E4-EDB4FDA2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19650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11.894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15C4E3-560F-497B-848A-BA23F406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101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2FBAC0-5F9B-471E-9150-69B63971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9650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6.576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751F1D-EA5E-4E66-8970-23862722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8101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9754E8-28DE-4904-960E-FB6AA810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819650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2.475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3133B0-9FAC-4491-9409-D90E8231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AB0C7C-7CEA-4809-89CF-2D337DAA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9775"/>
            <a:ext cx="2819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K=5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C63451-4D3B-45DA-913C-13A03E33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02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988218-050D-46E4-9A22-8F472351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19775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8.785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A2DC94-E380-4B19-92F8-492641BE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102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7307B0-52EC-42A2-89E4-EAC411B1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19775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11.318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9F64C8-D297-4EF4-9EF8-17DAFC00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102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5FE9AF-BA11-4A08-9F71-D85BF41B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19775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6.253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607BFE-0226-4AC5-8118-9F39361E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58102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97A036-23D8-48AE-B59A-4EDBD62E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5819775"/>
            <a:ext cx="3105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2.925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C28156-BF88-4ABE-B7C6-AF3C4571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247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81CEBB-4724-43C4-9B6A-FA42200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24750"/>
            <a:ext cx="9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9525">
            <a:solidFill>
              <a:srgbClr val="1B7F5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CCFC1C-7CBE-4A54-92F5-75F44662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962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7F5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7F5A"/>
                </a:solidFill>
                <a:latin typeface="Arial"/>
                <a:ea typeface="Arial"/>
                <a:cs typeface="Arial"/>
              </a:rPr>
              <a:t>9.407 ± 0.104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07DC83-0DBA-402C-9BCE-AF86275E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2296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Four-K mean MAE across 5 seeds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624B19-3089-4823-B7FA-CDDBA79A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75247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9634B6-5ED5-4DB3-A09E-26A3F574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7524750"/>
            <a:ext cx="9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A0233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BA8615-F8AD-46AB-982B-B894B022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6962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F18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F182A"/>
                </a:solidFill>
                <a:latin typeface="Arial"/>
                <a:ea typeface="Arial"/>
                <a:cs typeface="Arial"/>
              </a:rPr>
              <a:t>0.046 mmHg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2CEEDF-ACC9-4682-A61E-FC751FCA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82296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M0 advantage over M1 (four-K mean)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1D50B6-2695-4479-9677-85871B45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5247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FEFCA84-AF6D-41DC-9AAA-9883C3E6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524750"/>
            <a:ext cx="9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A0"/>
          </a:solidFill>
          <a:ln xmlns:a="http://schemas.openxmlformats.org/drawingml/2006/main" w="9525">
            <a:solidFill>
              <a:srgbClr val="2867A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2F2B68-8D75-4535-AF44-9986E1A5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76962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67A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7A0"/>
                </a:solidFill>
                <a:latin typeface="Arial"/>
                <a:ea typeface="Arial"/>
                <a:cs typeface="Arial"/>
              </a:rPr>
              <a:t>0.103 mmHg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123C19-3B47-4D30-B061-D18B5C2F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82296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M0 advantage over M2 (four-K mean)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482DD4C-466B-41F2-BCEE-B32C0CD9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440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M0 remains the simplest leading model; small M0–M1/M2 gaps are not claimed as decisive.</a:t>
            </a:r>
          </a:p>
        </p:txBody>
      </p:sp>
    </p:spTree>
    <p:extLst>
      <p:ext uri="{BB962C8B-B14F-4D97-AF65-F5344CB8AC3E}">
        <p14:creationId xmlns:p14="http://schemas.microsoft.com/office/powerpoint/2010/main" val="2047214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DE17D7C-62D3-4C0E-9367-A17F8611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200150"/>
          </a:xfrm>
          <a:custGeom xmlns:a="http://schemas.openxmlformats.org/drawingml/2006/main">
            <a:rect l="l" t="t" r="r" b="b"/>
            <a:pathLst>
              <a:path w="24384000" h="1600200">
                <a:moveTo>
                  <a:pt x="0" y="0"/>
                </a:moveTo>
                <a:lnTo>
                  <a:pt x="24384000" y="0"/>
                </a:lnTo>
                <a:lnTo>
                  <a:pt x="2438400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rgbClr val="A02337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A85593E-F1BA-4B0A-9EDF-357D5344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86261" y="130821"/>
            <a:ext cx="897867" cy="897867"/>
          </a:xfrm>
          <a:custGeom xmlns:a="http://schemas.openxmlformats.org/drawingml/2006/main">
            <a:rect l="l" t="t" r="r" b="b"/>
            <a:pathLst>
              <a:path w="1042543" h="1042543">
                <a:moveTo>
                  <a:pt x="0" y="0"/>
                </a:moveTo>
                <a:lnTo>
                  <a:pt x="1042543" y="0"/>
                </a:lnTo>
                <a:lnTo>
                  <a:pt x="1042543" y="1042543"/>
                </a:lnTo>
                <a:lnTo>
                  <a:pt x="0" y="10425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f0116223e54527"/>
            <a:stretch>
              <a:fillRect l="-7801" t="0" r="-7801" b="0"/>
            </a:stretch>
          </a:blip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DCB54-18B1-45B0-82FF-457C187F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625"/>
            <a:ext cx="1428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Historical Calibration-Free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C2074-4F22-4BE9-ADA5-462FF751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525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B4BD8-4EF5-4317-ABAE-C3BB8CE4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C1C7A-73DF-4DEE-AA6B-6EBC3658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3295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13094-CD14-44ED-9281-502267A4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581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4C3EF-2FF0-406F-90CD-042EE569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5772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 /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E9B21-88FF-4FAE-A481-94B9B242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5262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97D59-7C21-4522-BFF5-182853EA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6215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SBP MAE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79AB4-8A5F-48F9-953D-902991B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95262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F3D8D-30BA-42EA-BDA4-9A51B7C7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196215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DBP 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44607-D24A-48D3-B65B-0B8BFB51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1952625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AAE63-E106-4B16-876A-ACBBF3F9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1962150"/>
            <a:ext cx="3581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3D19A-D7A6-48FF-B288-5215380A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7652B-BBBF-4C64-9785-66CDDD22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3295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Historical XResNet-50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CA370-0DF2-4624-9707-5B05E8F0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90875"/>
            <a:ext cx="581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AA1F8-C9FD-408B-A8E9-DC6CB824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00400"/>
            <a:ext cx="5772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VitalDB; calibration-free; window-level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2671E-8DB0-4E11-B5E6-519DA2F6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9087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61B2F-2165-4B1A-9151-A7636416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00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12.492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36EE9-D306-47F8-8607-941791BC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19087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2AED7-2163-4B7E-8C7D-EC230B52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200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8.059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77D7B-EB2C-40D5-A7BC-D33B2F71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190875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5F0E3E-E7D3-439E-AF82-F842CA98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3200400"/>
            <a:ext cx="3581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Prior 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BB9EBE-9EFB-47E4-A2E1-B5D4BD37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B3D75-0E0F-4852-B56A-B7ABB26E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3295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Current M0 (K=5)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259C5-7526-4BE1-8609-5E46773D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29125"/>
            <a:ext cx="581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772DC2-E1D2-4E6A-9733-05FA2B10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38650"/>
            <a:ext cx="5772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PulseDB; few-shot; participant-macro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B499FA-309D-49E9-809B-BCF45862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2912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5F5B01-B63F-4E24-8121-B9B2DD73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3865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11.318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C5C749-ABFE-4C6F-97B8-D0AF158C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42912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51067A-2CC7-4726-B738-D09AA7FB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43865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6.253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CCA4D2-1A39-4B75-82CC-FD5BFF17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429125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EFDD43-5216-48F7-AD7C-73AA41C5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4438650"/>
            <a:ext cx="3581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Personalized model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3A00B3-2AA4-4C55-961A-899FF46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0"/>
            <a:ext cx="1485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882514-EDB9-41A4-8CAB-CF65F5AC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0"/>
            <a:ext cx="95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300"/>
          </a:solidFill>
          <a:ln xmlns:a="http://schemas.openxmlformats.org/drawingml/2006/main" w="9525">
            <a:solidFill>
              <a:srgbClr val="A863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30678A-B8DC-4A06-93BF-A33AB83C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457950"/>
            <a:ext cx="1440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863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6300"/>
                </a:solidFill>
                <a:latin typeface="Arial"/>
                <a:ea typeface="Arial"/>
                <a:cs typeface="Arial"/>
              </a:rPr>
              <a:t>Not an apples-to-apples comparison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C43DF4-0F4C-4193-B86E-3069669D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991350"/>
            <a:ext cx="1440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The dataset subset, split, metric aggregation, and calibration protocol differ. The historical result is shown only to motivate the transition from calibration-free to personalized prediction.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269CD6-2B2C-475F-9637-391773AB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440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Meta-validation only · Locked meta-test untouched</a:t>
            </a:r>
          </a:p>
        </p:txBody>
      </p:sp>
    </p:spTree>
    <p:extLst>
      <p:ext uri="{BB962C8B-B14F-4D97-AF65-F5344CB8AC3E}">
        <p14:creationId xmlns:p14="http://schemas.microsoft.com/office/powerpoint/2010/main" val="2047214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DE17D7C-62D3-4C0E-9367-A17F8611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200150"/>
          </a:xfrm>
          <a:custGeom xmlns:a="http://schemas.openxmlformats.org/drawingml/2006/main">
            <a:rect l="l" t="t" r="r" b="b"/>
            <a:pathLst>
              <a:path w="24384000" h="1600200">
                <a:moveTo>
                  <a:pt x="0" y="0"/>
                </a:moveTo>
                <a:lnTo>
                  <a:pt x="24384000" y="0"/>
                </a:lnTo>
                <a:lnTo>
                  <a:pt x="2438400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rgbClr val="A02337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A85593E-F1BA-4B0A-9EDF-357D5344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86261" y="130821"/>
            <a:ext cx="897867" cy="897867"/>
          </a:xfrm>
          <a:custGeom xmlns:a="http://schemas.openxmlformats.org/drawingml/2006/main">
            <a:rect l="l" t="t" r="r" b="b"/>
            <a:pathLst>
              <a:path w="1042543" h="1042543">
                <a:moveTo>
                  <a:pt x="0" y="0"/>
                </a:moveTo>
                <a:lnTo>
                  <a:pt x="1042543" y="0"/>
                </a:lnTo>
                <a:lnTo>
                  <a:pt x="1042543" y="1042543"/>
                </a:lnTo>
                <a:lnTo>
                  <a:pt x="0" y="10425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27782874fa44839"/>
            <a:stretch>
              <a:fillRect l="-7801" t="0" r="-7801" b="0"/>
            </a:stretch>
          </a:blip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003F0-25E0-44FE-A106-7212063C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625"/>
            <a:ext cx="1428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Worst 20% Subjects Show Calibration Drift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05DAE-A8A3-4227-A282-178C17FF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525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B3CCF-6FF7-46CF-89F8-07C66AE4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73AB1-6C82-4252-BC19-9D458026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906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Indicator (K=5)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0AD35-2FE8-44E7-804A-11B883F7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A2D0F-0940-42B2-971D-59B5F442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39065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Remaining 80%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624F7-8B90-4275-9161-B071DD75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3811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BDEA9-AE5F-4036-A205-D5A1FA96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39065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Worst 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3F649-B3D4-4A70-848F-7F29343D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38112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28B2F-183A-4570-9090-8108F12F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13906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1F761-4AB4-45C4-8AF0-974AF250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2B09A-65F8-44C5-8262-96657BD6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13360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Participant mean MAE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22403-2991-48D1-9579-7B469018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240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E9E72-0C1B-4535-8802-F7528F14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3360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6.935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52448-C235-44A1-8F75-493AFE6A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240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2A35F-B278-4869-8BF9-3C57D1E3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3360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15.662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7E884-C736-4F8C-B24D-CA0A69F8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12407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E08C3-156C-4760-B4DB-591F8B3A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213360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2.26× higher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DD038B-A809-45B3-9983-269DDDD6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6702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22495C-DD64-4901-910E-E96BC4D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8765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Support→query SBP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4612A7-EA45-4E58-BA55-0B4754C2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670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02A99-FE5B-4E99-A3F1-955A8A15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87655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13.704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78276F-B454-473B-828B-822C9145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670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CB8B2-E044-40F9-BCB5-C9146F7D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7655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22.660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3E66CD-EEF2-4C9D-A90D-8C093ED1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86702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76264-7F45-4510-B45B-EE62E82F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28765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+65%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3622A3-5525-478C-B13E-FB36F74A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997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853169-8478-4993-9F47-C104FC64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1950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Support→query DBP change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43BA0E-06D9-4307-90C7-D7E2FBB8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099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4FC9E1-5550-4C11-970A-941C8FDE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61950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7.288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1B2054-7751-4213-87DD-8C666B80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099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DFE8D7-4B40-4D98-816F-F6A07746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61950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12.791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9102F6-31DE-4CBD-ACD0-674E61C4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60997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12D162-F4BE-4C64-9C75-FC0FAD3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361950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+76%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2650C2-4586-4985-B99E-72978853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ABFBD9-C2E3-4DAA-803D-7EB9ECD2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624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Within-subject SBP / DBP SD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1B588D-3024-4CD3-9B65-46638FD1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529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835CB9-A0BD-4047-A3C5-35A4BEFD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36245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12.056 / 6.679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6BFCF5-77A8-4CCB-AF60-239DDD08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529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B41107-1855-45BF-B6AA-A4BF7A7F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36245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16.011 / 9.426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078E2C-179D-45FA-BED4-F3092C0E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435292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500C85-2C15-48DE-80C2-1A507F48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43624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+33% / +41%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D63941-4755-4A29-A30A-7CA839FD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98193B-3419-4AA1-9270-D01ED126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0540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Query outside support BP range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467D28-FCFD-43C8-A149-EFCD8EE8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0958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E12825-B5E4-45B2-8C2C-868191AD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10540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55.9% / 54.4%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52D09F-43D1-4B23-BDDC-41D8DB3F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958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C70CE7-F707-4704-A64E-8DBB8780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10540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70.4% / 69.4%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6E8C2A-A4BF-47E1-963D-29CF28E8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09587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95CF3B-3C22-4B6B-9E31-603A9EAA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510540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More extrapolation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974929-6BA7-4DB7-A9CA-8FDF87EF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3882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C02EC57-C225-4CF2-BB17-A871DA27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8483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Mean event index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3850CC-5052-432F-BEBF-B223EC8A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388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164A84-6585-4144-A60F-F63C8852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84835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72.5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7F82EA-6D21-4075-8F2F-640AC9F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8388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05E84E-B794-41FF-A740-12A5D9C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84835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108.7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2A2CCC4-06BF-4EBA-8A58-21589599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83882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C471F1-786B-4B73-8B21-05EB8476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58483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+50% later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2AF95C-F0BC-422D-A1CD-4B295BB2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617B62-982E-4CB9-A8DD-18D30B04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59130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Filtered-PPG SD / mean age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A084338-C787-4DA2-B8E1-6EF0A5B6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5817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91C6FD-8FE8-483E-AA25-75EE227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659130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0.2753 / 61.8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844C6C3-3F53-4BAF-A19E-D313732D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5817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48DB4DC-A33A-4508-8021-D78FBB2C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591300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0.2748 / 63.1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215627-91BB-4ED9-9B91-4009CD3E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6581775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D005153-2C02-4EB1-8882-3476B52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659130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Nearly unchanged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1B210ED-FC0A-44DA-BF04-76219EB6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62875"/>
            <a:ext cx="685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B9FD960-4155-47F9-B334-5EDEF87C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62875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A0233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CE1D43-D7FE-47B2-B0AD-EC6877CD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7934325"/>
            <a:ext cx="640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F18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F182A"/>
                </a:solidFill>
                <a:latin typeface="Arial"/>
                <a:ea typeface="Arial"/>
                <a:cs typeface="Arial"/>
              </a:rPr>
              <a:t>26.6% MIMIC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791171-B013-4A6F-A58F-8B32948D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8467725"/>
            <a:ext cx="640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Worst-tail participant rate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10C649-2C9C-4289-BD07-F2C25B0D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7762875"/>
            <a:ext cx="685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AD7945A-80F9-49E9-B2AE-D4E86133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7762875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A0"/>
          </a:solidFill>
          <a:ln xmlns:a="http://schemas.openxmlformats.org/drawingml/2006/main" w="9525">
            <a:solidFill>
              <a:srgbClr val="2867A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26082BA-9BA2-4A32-91E9-50D6B8C8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7934325"/>
            <a:ext cx="640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867A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67A0"/>
                </a:solidFill>
                <a:latin typeface="Arial"/>
                <a:ea typeface="Arial"/>
                <a:cs typeface="Arial"/>
              </a:rPr>
              <a:t>14.7% VitalDB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D475231-3ACD-4A84-B140-C79734DB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8467725"/>
            <a:ext cx="640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Worst-tail participant rate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155E1E7-912F-4243-8CB3-EDBD0DD5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440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140 / 697 participants · threshold ≥ 11.751 mmHg · diagnostic association, not proven causality</a:t>
            </a:r>
          </a:p>
        </p:txBody>
      </p:sp>
    </p:spTree>
    <p:extLst>
      <p:ext uri="{BB962C8B-B14F-4D97-AF65-F5344CB8AC3E}">
        <p14:creationId xmlns:p14="http://schemas.microsoft.com/office/powerpoint/2010/main" val="2047214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DE17D7C-62D3-4C0E-9367-A17F8611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200150"/>
          </a:xfrm>
          <a:custGeom xmlns:a="http://schemas.openxmlformats.org/drawingml/2006/main">
            <a:rect l="l" t="t" r="r" b="b"/>
            <a:pathLst>
              <a:path w="24384000" h="1600200">
                <a:moveTo>
                  <a:pt x="0" y="0"/>
                </a:moveTo>
                <a:lnTo>
                  <a:pt x="24384000" y="0"/>
                </a:lnTo>
                <a:lnTo>
                  <a:pt x="2438400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rgbClr val="A02337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A85593E-F1BA-4B0A-9EDF-357D5344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86261" y="130821"/>
            <a:ext cx="897867" cy="897867"/>
          </a:xfrm>
          <a:custGeom xmlns:a="http://schemas.openxmlformats.org/drawingml/2006/main">
            <a:rect l="l" t="t" r="r" b="b"/>
            <a:pathLst>
              <a:path w="1042543" h="1042543">
                <a:moveTo>
                  <a:pt x="0" y="0"/>
                </a:moveTo>
                <a:lnTo>
                  <a:pt x="1042543" y="0"/>
                </a:lnTo>
                <a:lnTo>
                  <a:pt x="1042543" y="1042543"/>
                </a:lnTo>
                <a:lnTo>
                  <a:pt x="0" y="10425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4fe255998604778"/>
            <a:stretch>
              <a:fillRect l="-7801" t="0" r="-7801" b="0"/>
            </a:stretch>
          </a:blip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00172-DEDD-450F-BD06-656C073C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625"/>
            <a:ext cx="1428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6 Tests One Change at a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4F470-2D5E-4781-B30A-956BE89A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525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4BFC9-1588-4965-9791-B4B62D3E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08AFC-1FDF-4002-8459-CF3878A9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38275"/>
            <a:ext cx="3867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E2CD1-63D5-412E-B32E-39F5504B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8AB11-4795-4116-9B8D-777FAA8D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438275"/>
            <a:ext cx="4724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change from M0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4B8DF-F72F-4B93-B226-B9356036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704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BA919-3D4E-439E-B64B-5CD88835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438275"/>
            <a:ext cx="701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E7A85-BE01-41BB-8FEF-594E4DA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14287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337"/>
          </a:solidFill>
          <a:ln xmlns:a="http://schemas.openxmlformats.org/drawingml/2006/main" w="9525">
            <a:solidFill>
              <a:srgbClr val="7F18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6383F-72DF-4394-A57F-C32B3F3F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1438275"/>
            <a:ext cx="1962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53535-53CD-43C7-9BDB-4B65B5D5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7AED9-99B2-4336-B507-2FBA7711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28875"/>
            <a:ext cx="3867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Robust loss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903FB-CA10-44DB-9FFC-FFCFAE12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193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FDC67-89DC-4F5B-9849-C8A6B948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28875"/>
            <a:ext cx="4724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Huber loss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4F4C7-FA07-46D2-9F9B-DBA7D8E3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19350"/>
            <a:ext cx="704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067FBC-A24F-4B6A-90FB-49C6D504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28875"/>
            <a:ext cx="701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Reduce large-residual influence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1B1A7-C1F2-41D0-BFAD-3B5D9C5B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24193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49EE56-3132-43F2-B586-BC4BED8B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2428875"/>
            <a:ext cx="1962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819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1D884-ED18-408F-8629-8B10876D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995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DD95C-FC17-492B-896D-EA5F3A50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19475"/>
            <a:ext cx="3867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BP-change sampling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7F058D-1545-4CCB-8639-7E8C05DF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099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7E7CAF-6E25-4AEF-8773-24A7F666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19475"/>
            <a:ext cx="4724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Meta-train sampler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16426B-91A1-44C8-83FC-CD668648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09950"/>
            <a:ext cx="704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AF0241-3C61-45F3-8C4C-A8E4D2AC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19475"/>
            <a:ext cx="701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Learn calibration-drift episodes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3A7989-0E46-4D19-AF4B-B154BD7B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34099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8D052-2945-4174-AA87-0A031338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3419475"/>
            <a:ext cx="1962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822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33EAE1-A842-4C4B-9665-750322BC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0055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A47D7B-8661-4693-B182-892841A3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10075"/>
            <a:ext cx="3867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Robust anchor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9FD793-75C5-4877-B24E-515CD101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005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78422-E65C-4723-933F-9E55650E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10075"/>
            <a:ext cx="4724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Median residual anchor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5B47E8-FEFA-492C-99E7-DF2A03DA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00550"/>
            <a:ext cx="704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6E00DC-FEAE-4094-BEB4-332DA20F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10075"/>
            <a:ext cx="701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Resist atypical cuff anchors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A6A99D-910B-4B3C-AA27-09876883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44005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E503CC-E852-4578-A9DF-89B081AA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4410075"/>
            <a:ext cx="1962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823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762885-1C70-44E6-9B3D-2E952DBD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9115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3AA106-A613-4D67-BC33-ADE917B3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00675"/>
            <a:ext cx="3867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PPG quality gate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A3B93A-AE42-4612-AB47-F63155B6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911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0D9966-0A71-4BAF-98AF-6EB416F9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400675"/>
            <a:ext cx="4724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PPG-only gate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6522B5-676D-4584-A7D8-69FDD3E4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91150"/>
            <a:ext cx="704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A00B9D-6F80-42A5-85C1-132E49CB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400675"/>
            <a:ext cx="701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Attenuate unreliable personalization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540EE7-2914-466C-A39C-93C51FC7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53911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B91D6B-7E63-4AD4-9041-C843C33D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5400675"/>
            <a:ext cx="1962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824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AAD0C4-AE3F-46CB-8C90-AB813638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8175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804E7A-B7E4-4BD5-8301-0ED1294E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91275"/>
            <a:ext cx="3867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Age + sex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31B6B1-95FF-4FDD-9C5E-E89B1C81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3817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CCCA1E-DF22-4213-B07C-B287AAB0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6391275"/>
            <a:ext cx="4724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Clean demographic vector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441E58-AF57-4E57-90F8-4EB23DA0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04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E5DD33-93F5-4897-BA79-BB8A0EA9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6391275"/>
            <a:ext cx="701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Add subject context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AC89B5-0535-426F-BE41-3154A741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63817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C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F58188-AF64-4CF0-834F-394910BA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6391275"/>
            <a:ext cx="1962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825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013564-B325-4447-87C9-E98DBC8C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810500"/>
            <a:ext cx="1666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F5F6"/>
          </a:solidFill>
          <a:ln xmlns:a="http://schemas.openxmlformats.org/drawingml/2006/main" w="9525">
            <a:solidFill>
              <a:srgbClr val="A0233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5058D2-EE01-46CE-B12C-61642D2F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981950"/>
            <a:ext cx="1590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F18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F182A"/>
                </a:solidFill>
                <a:latin typeface="Arial"/>
                <a:ea typeface="Arial"/>
                <a:cs typeface="Arial"/>
              </a:rPr>
              <a:t>Fixed-first job 818 complete: four-K mean 9.137 mmHg (−0.173 vs same-seed M0); K1–3 improved, K5 +0.094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56DBC7-CE66-4A3A-8101-04A6F87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440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Age uses participant median; invalid age is retained with a mask; normalization uses meta-train only.</a:t>
            </a:r>
          </a:p>
        </p:txBody>
      </p:sp>
    </p:spTree>
    <p:extLst>
      <p:ext uri="{BB962C8B-B14F-4D97-AF65-F5344CB8AC3E}">
        <p14:creationId xmlns:p14="http://schemas.microsoft.com/office/powerpoint/2010/main" val="20472144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2026-08-17T10:50:09.8930000Z</dcterms:created>
  <dcterms:modified xsi:type="dcterms:W3CDTF">2026-08-17T10:50:09.8930000Z</dcterms:modified>
</coreProperties>
</file>